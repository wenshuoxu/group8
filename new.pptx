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1.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8.svg" ContentType="image/svg+xml"/>
  <Override PartName="/ppt/media/image3.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2.svg" ContentType="image/svg+xml"/>
  <Override PartName="/ppt/media/image74.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4.svg" ContentType="image/svg+xml"/>
  <Override PartName="/ppt/media/image96.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morning/afternoon. We are the UFCFMM Data Mining Project Group, and today we are pleased to present our findings on 'UK Retail Customer Churn Prediction &amp; Segmentation'. This project leverages data mining techniques to address critical business pain points, such as high customer churn rates and rising acquisition costs. Let's dive into our presentation.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This presentation is structured into seven key sections. We will start with the project background and objectives, then move through data understanding, preprocessing, exploratory analysis, customer segmentation using the RFM model, building a churn prediction model, and finally, providing strategic recommendations based on our findings, before concluding with a summary and acknowledgements.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UK e-commerce market is highly competitive, plagued by a high churn rate of 30-40%. Acquiring new customers is far more expensive than retaining existing ones, costing 5 to 25 times more. This leads to substantial annual losses for retailers, exceeding £4 billion. To address these challenges, we set three core objectives: first, to identify customers at high risk of churning and build an early warning system; second, to segment customers using the RFM model for targeted marketing; and third, to provide actionable strategies to reduce churn and ultimately increase customer lifetime value.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analysis is based on the UCI Online Retail II dataset, which spans from December 2009 to December 2011. It contains over a million transactions from more than 4,000 unique customers. The dataset includes key features like invoice numbers, product codes, quantities, prices, and customer IDs. Importantly, over 90% of the transactions are from the UK, making it a perfect fit for our study of the UK retail market, and it is fully GDPR compliant.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ensure the accuracy of our analysis, we performed a rigorous data preprocessing phase. First, we removed records with missing customer IDs, which accounted for about 13% of the data. Next, we filtered out anomalies like return orders and invalid quantities or prices. We then engineered new features, such as total amount spent per transaction, and converted date formats. Finally, we removed outliers to ensure data quality. This process resulted in a clean dataset with over 800,000 valid records for our subsequent analysis.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exploratory data analysis revealed several key insights. First, looking at sales trends, we observed a strong seasonality, with a pronounced peak in sales during the Christmas season, specifically November and December.</a:t>
            </a:r>
            <a:endParaRPr lang="en-US" sz="1400" b="0" i="0" u="none" strike="noStrike">
              <a:solidFill>
                <a:srgbClr val="000000"/>
              </a:solidFill>
            </a:endParaRPr>
          </a:p>
          <a:p>
            <a:pPr indent="0" algn="l">
              <a:lnSpc>
                <a:spcPct val="100000"/>
              </a:lnSpc>
            </a:pPr>
            <a:r>
              <a:rPr lang="en-US" sz="1400" b="0" i="0" u="none" strike="noStrike">
                <a:solidFill>
                  <a:srgbClr val="000000"/>
                </a:solidFill>
              </a:rPr>
              <a:t>This line chart clearly illustrates this pattern, underscoring the critical role of holiday sales for the retailer and the need for targeted marketing campaigns during this period.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Second, analyzing the geographic distribution of customers, we found that over 90% of transactions are from the UK. This pie chart visualizes this concentration, confirming that the retailer's market is predominantly domestic. This insight allows for highly focused and efficient marketing strategies tailored to the UK audience.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third key finding from EDA relates to customer value distribution. The classic Pareto Principle, or 80/20 rule, is clearly evident here: the top 20% of customers generate around 80% of the total revenue. This bar chart illustrates this phenomenon, emphasizing that focusing retention efforts on this small segment of high-value customers can yield disproportionate rewards for the business.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move beyond broad observations, we employed the RFM model for customer segmentation. RFM stands for Recency, Frequency, and Monetary value. Recency measures how recently a customer purchased, Frequency counts how often they purchase, and Monetary value sums up their total spending. These three metrics together provide a comprehensive view of customer behavior and value, allowing us to group customers into distinct segments.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Using the RFM metrics, we applied the K-Means clustering algorithm to group customers. The elbow method helped us determine that the optimal number of clusters is four, as indicated by the point where the within-cluster sum of squares begins to decrease at a much slower rate. The resulting silhouette score of 0.55 confirms that the clusters are well-defined. This scatter plot, plotting Frequency against Monetary value, visually represents the four distinct customer segments we identified.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first segment consists of High-Value Loyal Customers, making up 27.5% of the customer base. These customers buy frequently, spend heavily, and have made recent purchases. Critically, they contribute over 58% of the total revenue. The strategy for this group is clear: retain and nurture them. Offering exclusive rewards, VIP services, and personalized experiences are key to keeping these valuable customers engaged and loyal.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second segment is Mid-Value Active Customers, representing 18.1% of customers. They are consistent buyers with moderate spending. This group is prime for growth. The strategy here is to implement cross-selling and upselling techniques. By understanding their preferences, we can recommend related products or upgrades, effectively increasing their spending and potentially elevating them to the high-value segment.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third segment is the largest, comprising 42.1% of customers: Low-Value Inactive Customers. These customers have low spending, low frequency, and haven't purchased in a long time. Re-engaging them is challenging but potentially rewarding due to their sheer numbers. The strategy is to use low-cost campaigns, such as targeted discounts or re-engagement emails, to win back a portion of this segment without significant investment.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fourth and final segment is High-Risk Churn Customers, making up 12.3% of the base. These customers have stopped purchasing recently, and their spending patterns are declining. They are on the verge of leaving. The strategy here is proactive retention: reaching out to them personally with special offers or feedback requests can help identify and resolve issues, potentially saving these customers before they churn.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Beyond segmentation, we aimed to predict which customers are likely to churn. We built a predictive model using the Random Forest algorithm, chosen for its robustness and effectiveness with complex data. We used RFM metrics and other derived features to train the model, splitting our data into training and testing sets to ensure reliable results.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Our Random Forest model performed well, achieving an accuracy of approximately 85%. This confusion matrix breaks down the model's predictions, showing how many customers were correctly identified as churners or non-churners. The high precision and recall confirm that the model is reliable and can effectively flag customers at risk, allowing the business to take timely action.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understand why customers churn, we analyzed the feature importance from our Random Forest model. This bar chart shows that Recency, or the time since the last purchase, is the most important predictor of churn. Other factors like purchase frequency and monetary value also play significant roles. This insight is invaluable, as it tells us exactly where to focus our retention efforts—on reactivating customers who haven't purchased in a while.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Based on our segmentation and prediction model, we can now outline a comprehensive action plan. For loyal customers, focus on retention with exclusive rewards. For active customers, drive growth through cross-selling and upselling. For inactive customers, use low-cost campaigns to win them back. And for high-risk customers, implement proactive retention measures with personalized outreach and offers. These targeted strategies are designed to address the specific needs of each segment and maximize overall customer retention and revenue.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conclusion, our project has successfully demonstrated how data mining can be applied to solve real-world business problems. We segmented customers effectively and built a robust churn prediction model. The insights and strategies derived from this analysis provide significant business value by enabling targeted retention efforts, ultimately aiming to reduce churn and boost revenue. For future work, we plan to explore more advanced models and integrate additional data sources to further enhance our understanding of customer behavior.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Thank you for your attention. We would now be happy to take any questions you may have.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3.svg"/><Relationship Id="rId8" Type="http://schemas.openxmlformats.org/officeDocument/2006/relationships/image" Target="../media/image2.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5" Type="http://schemas.openxmlformats.org/officeDocument/2006/relationships/notesSlide" Target="../notesSlides/notesSlide2.xml"/><Relationship Id="rId14" Type="http://schemas.openxmlformats.org/officeDocument/2006/relationships/slideLayout" Target="../slideLayouts/slideLayout12.xml"/><Relationship Id="rId13" Type="http://schemas.openxmlformats.org/officeDocument/2006/relationships/image" Target="../media/image14.svg"/><Relationship Id="rId12" Type="http://schemas.openxmlformats.org/officeDocument/2006/relationships/image" Target="../media/image13.png"/><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9" Type="http://schemas.openxmlformats.org/officeDocument/2006/relationships/image" Target="../media/image21.svg"/><Relationship Id="rId8" Type="http://schemas.openxmlformats.org/officeDocument/2006/relationships/image" Target="../media/image20.png"/><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12.svg"/><Relationship Id="rId2" Type="http://schemas.openxmlformats.org/officeDocument/2006/relationships/image" Target="../media/image11.png"/><Relationship Id="rId15" Type="http://schemas.openxmlformats.org/officeDocument/2006/relationships/notesSlide" Target="../notesSlides/notesSlide3.xml"/><Relationship Id="rId14" Type="http://schemas.openxmlformats.org/officeDocument/2006/relationships/slideLayout" Target="../slideLayouts/slideLayout12.xml"/><Relationship Id="rId13" Type="http://schemas.openxmlformats.org/officeDocument/2006/relationships/image" Target="../media/image25.svg"/><Relationship Id="rId12" Type="http://schemas.openxmlformats.org/officeDocument/2006/relationships/image" Target="../media/image24.png"/><Relationship Id="rId11" Type="http://schemas.openxmlformats.org/officeDocument/2006/relationships/image" Target="../media/image23.svg"/><Relationship Id="rId10" Type="http://schemas.openxmlformats.org/officeDocument/2006/relationships/image" Target="../media/image22.png"/><Relationship Id="rId1" Type="http://schemas.openxmlformats.org/officeDocument/2006/relationships/image" Target="../media/image15.jpeg"/></Relationships>
</file>

<file path=ppt/slides/_rels/slide4.xml.rels><?xml version="1.0" encoding="UTF-8" standalone="yes"?>
<Relationships xmlns="http://schemas.openxmlformats.org/package/2006/relationships"><Relationship Id="rId9" Type="http://schemas.openxmlformats.org/officeDocument/2006/relationships/image" Target="../media/image34.svg"/><Relationship Id="rId8" Type="http://schemas.openxmlformats.org/officeDocument/2006/relationships/image" Target="../media/image33.png"/><Relationship Id="rId7" Type="http://schemas.openxmlformats.org/officeDocument/2006/relationships/image" Target="../media/image32.svg"/><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3" Type="http://schemas.openxmlformats.org/officeDocument/2006/relationships/image" Target="../media/image28.svg"/><Relationship Id="rId2" Type="http://schemas.openxmlformats.org/officeDocument/2006/relationships/image" Target="../media/image27.png"/><Relationship Id="rId13" Type="http://schemas.openxmlformats.org/officeDocument/2006/relationships/notesSlide" Target="../notesSlides/notesSlide4.xml"/><Relationship Id="rId12" Type="http://schemas.openxmlformats.org/officeDocument/2006/relationships/slideLayout" Target="../slideLayouts/slideLayout12.xml"/><Relationship Id="rId11" Type="http://schemas.openxmlformats.org/officeDocument/2006/relationships/image" Target="../media/image36.svg"/><Relationship Id="rId10" Type="http://schemas.openxmlformats.org/officeDocument/2006/relationships/image" Target="../media/image35.png"/><Relationship Id="rId1" Type="http://schemas.openxmlformats.org/officeDocument/2006/relationships/image" Target="../media/image26.jpeg"/></Relationships>
</file>

<file path=ppt/slides/_rels/slide5.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43.svg"/><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 Id="rId3" Type="http://schemas.openxmlformats.org/officeDocument/2006/relationships/image" Target="../media/image39.svg"/><Relationship Id="rId2" Type="http://schemas.openxmlformats.org/officeDocument/2006/relationships/image" Target="../media/image38.png"/><Relationship Id="rId13" Type="http://schemas.openxmlformats.org/officeDocument/2006/relationships/notesSlide" Target="../notesSlides/notesSlide5.xml"/><Relationship Id="rId12" Type="http://schemas.openxmlformats.org/officeDocument/2006/relationships/slideLayout" Target="../slideLayouts/slideLayout12.xml"/><Relationship Id="rId11" Type="http://schemas.openxmlformats.org/officeDocument/2006/relationships/image" Target="../media/image45.svg"/><Relationship Id="rId10" Type="http://schemas.openxmlformats.org/officeDocument/2006/relationships/image" Target="../media/image44.png"/><Relationship Id="rId1" Type="http://schemas.openxmlformats.org/officeDocument/2006/relationships/image" Target="../media/image37.jpe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46.jpe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47.png"/><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image" Target="../media/image15.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56.svg"/><Relationship Id="rId6" Type="http://schemas.openxmlformats.org/officeDocument/2006/relationships/image" Target="../media/image55.png"/><Relationship Id="rId5" Type="http://schemas.openxmlformats.org/officeDocument/2006/relationships/image" Target="../media/image54.svg"/><Relationship Id="rId4" Type="http://schemas.openxmlformats.org/officeDocument/2006/relationships/image" Target="../media/image53.png"/><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image" Target="../media/image26.jpe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1.jpeg"/><Relationship Id="rId7" Type="http://schemas.openxmlformats.org/officeDocument/2006/relationships/image" Target="../media/image60.svg"/><Relationship Id="rId6" Type="http://schemas.openxmlformats.org/officeDocument/2006/relationships/image" Target="../media/image59.png"/><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58.svg"/><Relationship Id="rId2" Type="http://schemas.openxmlformats.org/officeDocument/2006/relationships/image" Target="../media/image57.png"/><Relationship Id="rId10" Type="http://schemas.openxmlformats.org/officeDocument/2006/relationships/notesSlide" Target="../notesSlides/notesSlide10.xml"/><Relationship Id="rId1" Type="http://schemas.openxmlformats.org/officeDocument/2006/relationships/image" Target="../media/image37.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2.xml"/><Relationship Id="rId7" Type="http://schemas.openxmlformats.org/officeDocument/2006/relationships/image" Target="../media/image67.svg"/><Relationship Id="rId6" Type="http://schemas.openxmlformats.org/officeDocument/2006/relationships/image" Target="../media/image66.png"/><Relationship Id="rId5" Type="http://schemas.openxmlformats.org/officeDocument/2006/relationships/image" Target="../media/image65.svg"/><Relationship Id="rId4" Type="http://schemas.openxmlformats.org/officeDocument/2006/relationships/image" Target="../media/image64.png"/><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17.svg"/><Relationship Id="rId4" Type="http://schemas.openxmlformats.org/officeDocument/2006/relationships/image" Target="../media/image70.png"/><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2.xml"/><Relationship Id="rId5" Type="http://schemas.openxmlformats.org/officeDocument/2006/relationships/image" Target="../media/image74.svg"/><Relationship Id="rId4" Type="http://schemas.openxmlformats.org/officeDocument/2006/relationships/image" Target="../media/image73.png"/><Relationship Id="rId3" Type="http://schemas.openxmlformats.org/officeDocument/2006/relationships/image" Target="../media/image72.svg"/><Relationship Id="rId2" Type="http://schemas.openxmlformats.org/officeDocument/2006/relationships/image" Target="../media/image71.png"/><Relationship Id="rId1" Type="http://schemas.openxmlformats.org/officeDocument/2006/relationships/image" Target="../media/image15.jpe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2.xml"/><Relationship Id="rId7" Type="http://schemas.openxmlformats.org/officeDocument/2006/relationships/image" Target="../media/image79.svg"/><Relationship Id="rId6" Type="http://schemas.openxmlformats.org/officeDocument/2006/relationships/image" Target="../media/image78.png"/><Relationship Id="rId5" Type="http://schemas.openxmlformats.org/officeDocument/2006/relationships/image" Target="../media/image77.svg"/><Relationship Id="rId4" Type="http://schemas.openxmlformats.org/officeDocument/2006/relationships/image" Target="../media/image76.png"/><Relationship Id="rId3" Type="http://schemas.openxmlformats.org/officeDocument/2006/relationships/image" Target="../media/image12.svg"/><Relationship Id="rId2" Type="http://schemas.openxmlformats.org/officeDocument/2006/relationships/image" Target="../media/image75.png"/><Relationship Id="rId1" Type="http://schemas.openxmlformats.org/officeDocument/2006/relationships/image" Target="../media/image26.jpe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2.xml"/><Relationship Id="rId7" Type="http://schemas.openxmlformats.org/officeDocument/2006/relationships/image" Target="../media/image84.svg"/><Relationship Id="rId6" Type="http://schemas.openxmlformats.org/officeDocument/2006/relationships/image" Target="../media/image83.png"/><Relationship Id="rId5" Type="http://schemas.openxmlformats.org/officeDocument/2006/relationships/image" Target="../media/image32.svg"/><Relationship Id="rId4" Type="http://schemas.openxmlformats.org/officeDocument/2006/relationships/image" Target="../media/image82.png"/><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image" Target="../media/image37.jpeg"/></Relationships>
</file>

<file path=ppt/slides/_rels/slide16.xml.rels><?xml version="1.0" encoding="UTF-8" standalone="yes"?>
<Relationships xmlns="http://schemas.openxmlformats.org/package/2006/relationships"><Relationship Id="rId9" Type="http://schemas.openxmlformats.org/officeDocument/2006/relationships/image" Target="../media/image90.svg"/><Relationship Id="rId8" Type="http://schemas.openxmlformats.org/officeDocument/2006/relationships/image" Target="../media/image89.png"/><Relationship Id="rId7" Type="http://schemas.openxmlformats.org/officeDocument/2006/relationships/image" Target="../media/image88.svg"/><Relationship Id="rId6" Type="http://schemas.openxmlformats.org/officeDocument/2006/relationships/image" Target="../media/image87.png"/><Relationship Id="rId5" Type="http://schemas.openxmlformats.org/officeDocument/2006/relationships/image" Target="../media/image86.svg"/><Relationship Id="rId4" Type="http://schemas.openxmlformats.org/officeDocument/2006/relationships/image" Target="../media/image85.png"/><Relationship Id="rId3" Type="http://schemas.openxmlformats.org/officeDocument/2006/relationships/image" Target="../media/image12.svg"/><Relationship Id="rId2" Type="http://schemas.openxmlformats.org/officeDocument/2006/relationships/image" Target="../media/image75.png"/><Relationship Id="rId11" Type="http://schemas.openxmlformats.org/officeDocument/2006/relationships/notesSlide" Target="../notesSlides/notesSlide16.xml"/><Relationship Id="rId10" Type="http://schemas.openxmlformats.org/officeDocument/2006/relationships/slideLayout" Target="../slideLayouts/slideLayout12.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92.png"/><Relationship Id="rId5" Type="http://schemas.openxmlformats.org/officeDocument/2006/relationships/image" Target="../media/image86.svg"/><Relationship Id="rId4" Type="http://schemas.openxmlformats.org/officeDocument/2006/relationships/image" Target="../media/image85.png"/><Relationship Id="rId3" Type="http://schemas.openxmlformats.org/officeDocument/2006/relationships/image" Target="../media/image54.svg"/><Relationship Id="rId2" Type="http://schemas.openxmlformats.org/officeDocument/2006/relationships/image" Target="../media/image91.png"/><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9" Type="http://schemas.openxmlformats.org/officeDocument/2006/relationships/image" Target="../media/image77.svg"/><Relationship Id="rId8" Type="http://schemas.openxmlformats.org/officeDocument/2006/relationships/image" Target="../media/image76.png"/><Relationship Id="rId7" Type="http://schemas.openxmlformats.org/officeDocument/2006/relationships/image" Target="../media/image96.svg"/><Relationship Id="rId6" Type="http://schemas.openxmlformats.org/officeDocument/2006/relationships/image" Target="../media/image95.png"/><Relationship Id="rId5" Type="http://schemas.openxmlformats.org/officeDocument/2006/relationships/image" Target="../media/image17.svg"/><Relationship Id="rId4" Type="http://schemas.openxmlformats.org/officeDocument/2006/relationships/image" Target="../media/image70.png"/><Relationship Id="rId3" Type="http://schemas.openxmlformats.org/officeDocument/2006/relationships/image" Target="../media/image94.svg"/><Relationship Id="rId2" Type="http://schemas.openxmlformats.org/officeDocument/2006/relationships/image" Target="../media/image93.png"/><Relationship Id="rId11" Type="http://schemas.openxmlformats.org/officeDocument/2006/relationships/notesSlide" Target="../notesSlides/notesSlide18.xml"/><Relationship Id="rId10" Type="http://schemas.openxmlformats.org/officeDocument/2006/relationships/slideLayout" Target="../slideLayouts/slideLayout12.xml"/><Relationship Id="rId1" Type="http://schemas.openxmlformats.org/officeDocument/2006/relationships/image" Target="../media/image15.jpe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12.xml"/><Relationship Id="rId7" Type="http://schemas.openxmlformats.org/officeDocument/2006/relationships/image" Target="../media/image99.svg"/><Relationship Id="rId6" Type="http://schemas.openxmlformats.org/officeDocument/2006/relationships/image" Target="../media/image98.png"/><Relationship Id="rId5" Type="http://schemas.openxmlformats.org/officeDocument/2006/relationships/image" Target="../media/image17.svg"/><Relationship Id="rId4" Type="http://schemas.openxmlformats.org/officeDocument/2006/relationships/image" Target="../media/image70.png"/><Relationship Id="rId3" Type="http://schemas.openxmlformats.org/officeDocument/2006/relationships/image" Target="../media/image10.svg"/><Relationship Id="rId2" Type="http://schemas.openxmlformats.org/officeDocument/2006/relationships/image" Target="../media/image97.png"/><Relationship Id="rId1" Type="http://schemas.openxmlformats.org/officeDocument/2006/relationships/image" Target="../media/image26.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2.xml"/><Relationship Id="rId4" Type="http://schemas.openxmlformats.org/officeDocument/2006/relationships/image" Target="../media/image102.png"/><Relationship Id="rId3" Type="http://schemas.openxmlformats.org/officeDocument/2006/relationships/image" Target="../media/image101.svg"/><Relationship Id="rId2" Type="http://schemas.openxmlformats.org/officeDocument/2006/relationships/image" Target="../media/image100.png"/><Relationship Id="rId1"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0"/>
            <a:ext cx="1219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381000" y="1778000"/>
            <a:ext cx="1143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UK Retail Customer Churn Prediction &amp; Segmentation</a:t>
            </a:r>
            <a:endParaRPr lang="en-US" sz="1100"/>
          </a:p>
        </p:txBody>
      </p:sp>
      <p:cxnSp>
        <p:nvCxnSpPr>
          <p:cNvPr id="6" name="Connector 6"/>
          <p:cNvCxnSpPr/>
          <p:nvPr/>
        </p:nvCxnSpPr>
        <p:spPr>
          <a:xfrm rot="-34376">
            <a:off x="5461032" y="2914650"/>
            <a:ext cx="1270000" cy="12700"/>
          </a:xfrm>
          <a:prstGeom prst="line">
            <a:avLst/>
          </a:prstGeom>
          <a:solidFill>
            <a:srgbClr val="DEE0E3">
              <a:alpha val="100000"/>
            </a:srgbClr>
          </a:solidFill>
          <a:ln w="25400" cap="flat" cmpd="sng">
            <a:solidFill>
              <a:srgbClr val="00A9E0">
                <a:alpha val="100000"/>
              </a:srgbClr>
            </a:solidFill>
            <a:prstDash val="solid"/>
            <a:round/>
            <a:headEnd type="none" w="lg" len="lg"/>
            <a:tailEnd type="none" w="lg" len="lg"/>
          </a:ln>
        </p:spPr>
      </p:cxnSp>
      <p:sp>
        <p:nvSpPr>
          <p:cNvPr id="7" name="AutoShape 7"/>
          <p:cNvSpPr/>
          <p:nvPr/>
        </p:nvSpPr>
        <p:spPr>
          <a:xfrm>
            <a:off x="635000" y="3175000"/>
            <a:ext cx="10922000" cy="508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800" b="0" i="0" u="none" strike="noStrike">
                <a:solidFill>
                  <a:srgbClr val="F0F2F5"/>
                </a:solidFill>
                <a:latin typeface="Noto Sans SC" panose="020B0200000000000000" charset="-122"/>
                <a:ea typeface="Noto Sans SC" panose="020B0200000000000000" charset="-122"/>
                <a:cs typeface="Noto Sans SC" panose="020B0200000000000000" charset="-122"/>
                <a:sym typeface="Noto Sans SC" panose="020B0200000000000000" charset="-122"/>
              </a:rPr>
              <a:t>A Data-Driven Approach to Retain Valuable Customers</a:t>
            </a:r>
            <a:endParaRPr lang="en-US" sz="1100"/>
          </a:p>
        </p:txBody>
      </p:sp>
      <p:sp>
        <p:nvSpPr>
          <p:cNvPr id="8" name="AutoShape 8"/>
          <p:cNvSpPr/>
          <p:nvPr/>
        </p:nvSpPr>
        <p:spPr>
          <a:xfrm>
            <a:off x="3556000" y="4572000"/>
            <a:ext cx="5080000" cy="508000"/>
          </a:xfrm>
          <a:prstGeom prst="roundRect">
            <a:avLst>
              <a:gd name="adj" fmla="val 25000"/>
            </a:avLst>
          </a:prstGeom>
          <a:solidFill>
            <a:srgbClr val="FFFFFF">
              <a:alpha val="10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46500" y="4699000"/>
            <a:ext cx="254000" cy="254000"/>
          </a:xfrm>
          <a:prstGeom prst="rect">
            <a:avLst/>
          </a:prstGeom>
        </p:spPr>
      </p:pic>
      <p:sp>
        <p:nvSpPr>
          <p:cNvPr id="10" name="AutoShape 10"/>
          <p:cNvSpPr/>
          <p:nvPr/>
        </p:nvSpPr>
        <p:spPr>
          <a:xfrm>
            <a:off x="4127500" y="46355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UFCFMM Data Mining Project Group</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4025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CONTENTS</a:t>
            </a:r>
            <a:endParaRPr lang="en-US" sz="1100"/>
          </a:p>
        </p:txBody>
      </p:sp>
      <p:cxnSp>
        <p:nvCxnSpPr>
          <p:cNvPr id="5" name="Connector 5"/>
          <p:cNvCxnSpPr/>
          <p:nvPr/>
        </p:nvCxnSpPr>
        <p:spPr>
          <a:xfrm rot="-57290">
            <a:off x="762053" y="1200150"/>
            <a:ext cx="762000" cy="12700"/>
          </a:xfrm>
          <a:prstGeom prst="line">
            <a:avLst/>
          </a:prstGeom>
          <a:solidFill>
            <a:srgbClr val="DEE0E3">
              <a:alpha val="100000"/>
            </a:srgbClr>
          </a:solidFill>
          <a:ln w="50800" cap="flat" cmpd="sng">
            <a:solidFill>
              <a:srgbClr val="00A9E0">
                <a:alpha val="100000"/>
              </a:srgbClr>
            </a:solidFill>
            <a:prstDash val="solid"/>
            <a:round/>
            <a:headEnd type="none" w="lg" len="lg"/>
            <a:tailEnd type="none" w="lg" len="lg"/>
          </a:ln>
        </p:spPr>
      </p:cxnSp>
      <p:sp>
        <p:nvSpPr>
          <p:cNvPr id="6" name="AutoShape 6"/>
          <p:cNvSpPr/>
          <p:nvPr/>
        </p:nvSpPr>
        <p:spPr>
          <a:xfrm>
            <a:off x="762000" y="1651000"/>
            <a:ext cx="4826000" cy="812800"/>
          </a:xfrm>
          <a:prstGeom prst="roundRect">
            <a:avLst>
              <a:gd name="adj" fmla="val 15625"/>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1651000"/>
            <a:ext cx="50800" cy="812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304800" cy="304800"/>
          </a:xfrm>
          <a:prstGeom prst="rect">
            <a:avLst/>
          </a:prstGeom>
        </p:spPr>
      </p:pic>
      <p:sp>
        <p:nvSpPr>
          <p:cNvPr id="9" name="AutoShape 9"/>
          <p:cNvSpPr/>
          <p:nvPr/>
        </p:nvSpPr>
        <p:spPr>
          <a:xfrm>
            <a:off x="1460500" y="18034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01. Project Background &amp; Objectives</a:t>
            </a:r>
            <a:endParaRPr lang="en-US" sz="1100"/>
          </a:p>
        </p:txBody>
      </p:sp>
      <p:sp>
        <p:nvSpPr>
          <p:cNvPr id="10" name="AutoShape 10"/>
          <p:cNvSpPr/>
          <p:nvPr/>
        </p:nvSpPr>
        <p:spPr>
          <a:xfrm>
            <a:off x="762000" y="2616200"/>
            <a:ext cx="4826000" cy="812800"/>
          </a:xfrm>
          <a:prstGeom prst="roundRect">
            <a:avLst>
              <a:gd name="adj" fmla="val 15625"/>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2616200"/>
            <a:ext cx="50800" cy="812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870200"/>
            <a:ext cx="304800" cy="304800"/>
          </a:xfrm>
          <a:prstGeom prst="rect">
            <a:avLst/>
          </a:prstGeom>
        </p:spPr>
      </p:pic>
      <p:sp>
        <p:nvSpPr>
          <p:cNvPr id="13" name="AutoShape 13"/>
          <p:cNvSpPr/>
          <p:nvPr/>
        </p:nvSpPr>
        <p:spPr>
          <a:xfrm>
            <a:off x="1460500" y="2768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02. Data Understanding &amp; Preprocessing</a:t>
            </a:r>
            <a:endParaRPr lang="en-US" sz="1100"/>
          </a:p>
        </p:txBody>
      </p:sp>
      <p:sp>
        <p:nvSpPr>
          <p:cNvPr id="14" name="AutoShape 14"/>
          <p:cNvSpPr/>
          <p:nvPr/>
        </p:nvSpPr>
        <p:spPr>
          <a:xfrm>
            <a:off x="762000" y="3581400"/>
            <a:ext cx="4826000" cy="812800"/>
          </a:xfrm>
          <a:prstGeom prst="roundRect">
            <a:avLst>
              <a:gd name="adj" fmla="val 15625"/>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3581400"/>
            <a:ext cx="50800" cy="812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835400"/>
            <a:ext cx="304800" cy="304800"/>
          </a:xfrm>
          <a:prstGeom prst="rect">
            <a:avLst/>
          </a:prstGeom>
        </p:spPr>
      </p:pic>
      <p:sp>
        <p:nvSpPr>
          <p:cNvPr id="17" name="AutoShape 17"/>
          <p:cNvSpPr/>
          <p:nvPr/>
        </p:nvSpPr>
        <p:spPr>
          <a:xfrm>
            <a:off x="1460500" y="37338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03. Exploratory Data Analysis (EDA)</a:t>
            </a:r>
            <a:endParaRPr lang="en-US" sz="1100"/>
          </a:p>
        </p:txBody>
      </p:sp>
      <p:sp>
        <p:nvSpPr>
          <p:cNvPr id="18" name="AutoShape 18"/>
          <p:cNvSpPr/>
          <p:nvPr/>
        </p:nvSpPr>
        <p:spPr>
          <a:xfrm>
            <a:off x="6350000" y="1651000"/>
            <a:ext cx="4826000" cy="812800"/>
          </a:xfrm>
          <a:prstGeom prst="roundRect">
            <a:avLst>
              <a:gd name="adj" fmla="val 15625"/>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350000" y="1651000"/>
            <a:ext cx="50800" cy="812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1905000"/>
            <a:ext cx="304800" cy="304800"/>
          </a:xfrm>
          <a:prstGeom prst="rect">
            <a:avLst/>
          </a:prstGeom>
        </p:spPr>
      </p:pic>
      <p:sp>
        <p:nvSpPr>
          <p:cNvPr id="21" name="AutoShape 21"/>
          <p:cNvSpPr/>
          <p:nvPr/>
        </p:nvSpPr>
        <p:spPr>
          <a:xfrm>
            <a:off x="7048500" y="18034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04. Customer Segmentation with RFM</a:t>
            </a:r>
            <a:endParaRPr lang="en-US" sz="1100"/>
          </a:p>
        </p:txBody>
      </p:sp>
      <p:sp>
        <p:nvSpPr>
          <p:cNvPr id="22" name="AutoShape 22"/>
          <p:cNvSpPr/>
          <p:nvPr/>
        </p:nvSpPr>
        <p:spPr>
          <a:xfrm>
            <a:off x="6350000" y="2616200"/>
            <a:ext cx="4826000" cy="812800"/>
          </a:xfrm>
          <a:prstGeom prst="roundRect">
            <a:avLst>
              <a:gd name="adj" fmla="val 15625"/>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350000" y="2616200"/>
            <a:ext cx="50800" cy="812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2870200"/>
            <a:ext cx="304800" cy="304800"/>
          </a:xfrm>
          <a:prstGeom prst="rect">
            <a:avLst/>
          </a:prstGeom>
        </p:spPr>
      </p:pic>
      <p:sp>
        <p:nvSpPr>
          <p:cNvPr id="25" name="AutoShape 25"/>
          <p:cNvSpPr/>
          <p:nvPr/>
        </p:nvSpPr>
        <p:spPr>
          <a:xfrm>
            <a:off x="7048500" y="27686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05. Churn Prediction Model</a:t>
            </a:r>
            <a:endParaRPr lang="en-US" sz="1100"/>
          </a:p>
        </p:txBody>
      </p:sp>
      <p:sp>
        <p:nvSpPr>
          <p:cNvPr id="26" name="AutoShape 26"/>
          <p:cNvSpPr/>
          <p:nvPr/>
        </p:nvSpPr>
        <p:spPr>
          <a:xfrm>
            <a:off x="6350000" y="3581400"/>
            <a:ext cx="4826000" cy="812800"/>
          </a:xfrm>
          <a:prstGeom prst="roundRect">
            <a:avLst>
              <a:gd name="adj" fmla="val 15625"/>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350000" y="3581400"/>
            <a:ext cx="50800" cy="812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3835400"/>
            <a:ext cx="304800" cy="304800"/>
          </a:xfrm>
          <a:prstGeom prst="rect">
            <a:avLst/>
          </a:prstGeom>
        </p:spPr>
      </p:pic>
      <p:sp>
        <p:nvSpPr>
          <p:cNvPr id="29" name="AutoShape 29"/>
          <p:cNvSpPr/>
          <p:nvPr/>
        </p:nvSpPr>
        <p:spPr>
          <a:xfrm>
            <a:off x="7048500" y="37338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06. Strategic Recommendations</a:t>
            </a:r>
            <a:endParaRPr lang="en-US" sz="1100"/>
          </a:p>
        </p:txBody>
      </p:sp>
      <p:sp>
        <p:nvSpPr>
          <p:cNvPr id="30" name="AutoShape 30"/>
          <p:cNvSpPr/>
          <p:nvPr/>
        </p:nvSpPr>
        <p:spPr>
          <a:xfrm>
            <a:off x="6350000" y="4546600"/>
            <a:ext cx="4826000" cy="812800"/>
          </a:xfrm>
          <a:prstGeom prst="roundRect">
            <a:avLst>
              <a:gd name="adj" fmla="val 15625"/>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6350000" y="4546600"/>
            <a:ext cx="50800" cy="812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4000" y="4800600"/>
            <a:ext cx="304800" cy="304800"/>
          </a:xfrm>
          <a:prstGeom prst="rect">
            <a:avLst/>
          </a:prstGeom>
        </p:spPr>
      </p:pic>
      <p:sp>
        <p:nvSpPr>
          <p:cNvPr id="33" name="AutoShape 33"/>
          <p:cNvSpPr/>
          <p:nvPr/>
        </p:nvSpPr>
        <p:spPr>
          <a:xfrm>
            <a:off x="7048500" y="4699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07. Conclusion &amp; Acknowledgements</a:t>
            </a:r>
            <a:endParaRPr lang="en-US" sz="1100"/>
          </a:p>
        </p:txBody>
      </p:sp>
      <p:sp>
        <p:nvSpPr>
          <p:cNvPr id="34" name="AutoShape 34"/>
          <p:cNvSpPr/>
          <p:nvPr/>
        </p:nvSpPr>
        <p:spPr>
          <a:xfrm>
            <a:off x="0" y="6781800"/>
            <a:ext cx="12192000" cy="762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400" b="1" i="0" u="none" strike="noStrike">
                <a:solidFill>
                  <a:srgbClr val="FFFFFF"/>
                </a:solidFill>
                <a:latin typeface="Poppins"/>
                <a:ea typeface="Poppins"/>
                <a:cs typeface="Poppins"/>
                <a:sym typeface="Poppins"/>
              </a:rPr>
              <a:t>PART 1: Project Background &amp; Data Preparation</a:t>
            </a:r>
            <a:endParaRPr lang="en-US" sz="1100"/>
          </a:p>
        </p:txBody>
      </p:sp>
      <p:sp>
        <p:nvSpPr>
          <p:cNvPr id="5" name="AutoShape 5"/>
          <p:cNvSpPr/>
          <p:nvPr/>
        </p:nvSpPr>
        <p:spPr>
          <a:xfrm>
            <a:off x="762000" y="1397000"/>
            <a:ext cx="5080000" cy="3556000"/>
          </a:xfrm>
          <a:prstGeom prst="roundRect">
            <a:avLst>
              <a:gd name="adj" fmla="val 3571"/>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Industry Challenges</a:t>
            </a:r>
            <a:endParaRPr lang="en-US" sz="1100"/>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95500"/>
            <a:ext cx="304800" cy="304800"/>
          </a:xfrm>
          <a:prstGeom prst="rect">
            <a:avLst/>
          </a:prstGeom>
        </p:spPr>
      </p:pic>
      <p:sp>
        <p:nvSpPr>
          <p:cNvPr id="8" name="AutoShape 8"/>
          <p:cNvSpPr/>
          <p:nvPr/>
        </p:nvSpPr>
        <p:spPr>
          <a:xfrm>
            <a:off x="1397000" y="2032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High churn rate (30-40%)</a:t>
            </a:r>
            <a:endParaRPr lang="en-US" sz="1100"/>
          </a:p>
          <a:p>
            <a:pPr indent="0" algn="l">
              <a:lnSpc>
                <a:spcPct val="125000"/>
              </a:lnSpc>
            </a:pPr>
            <a:r>
              <a:rPr lang="en-US" sz="1200" b="0" i="0" u="none" strike="noStrike">
                <a:solidFill>
                  <a:srgbClr val="F0F2F5">
                    <a:alpha val="70196"/>
                  </a:srgbClr>
                </a:solidFill>
                <a:latin typeface="Poppins"/>
                <a:ea typeface="Poppins"/>
                <a:cs typeface="Poppins"/>
                <a:sym typeface="Poppins"/>
              </a:rPr>
              <a:t>Unsustainable customer turnover plaguing retailers.</a:t>
            </a:r>
            <a:endParaRPr lang="en-US" sz="1200" b="0" i="0" u="none" strike="noStrike">
              <a:solidFill>
                <a:srgbClr val="F0F2F5">
                  <a:alpha val="70196"/>
                </a:srgbClr>
              </a:solidFill>
              <a:latin typeface="Poppins"/>
              <a:ea typeface="Poppins"/>
              <a:cs typeface="Poppins"/>
              <a:sym typeface="Poppins"/>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857500"/>
            <a:ext cx="304800" cy="304800"/>
          </a:xfrm>
          <a:prstGeom prst="rect">
            <a:avLst/>
          </a:prstGeom>
        </p:spPr>
      </p:pic>
      <p:sp>
        <p:nvSpPr>
          <p:cNvPr id="10" name="AutoShape 10"/>
          <p:cNvSpPr/>
          <p:nvPr/>
        </p:nvSpPr>
        <p:spPr>
          <a:xfrm>
            <a:off x="1397000" y="2794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Soaring acquisition costs</a:t>
            </a:r>
            <a:endParaRPr lang="en-US" sz="1100"/>
          </a:p>
          <a:p>
            <a:pPr indent="0" algn="l">
              <a:lnSpc>
                <a:spcPct val="125000"/>
              </a:lnSpc>
            </a:pPr>
            <a:r>
              <a:rPr lang="en-US" sz="1200" b="0" i="0" u="none" strike="noStrike">
                <a:solidFill>
                  <a:srgbClr val="F0F2F5">
                    <a:alpha val="70196"/>
                  </a:srgbClr>
                </a:solidFill>
                <a:latin typeface="Poppins"/>
                <a:ea typeface="Poppins"/>
                <a:cs typeface="Poppins"/>
                <a:sym typeface="Poppins"/>
              </a:rPr>
              <a:t>5-25x more expensive than retaining existing users.</a:t>
            </a:r>
            <a:endParaRPr lang="en-US" sz="1200" b="0" i="0" u="none" strike="noStrike">
              <a:solidFill>
                <a:srgbClr val="F0F2F5">
                  <a:alpha val="70196"/>
                </a:srgbClr>
              </a:solidFill>
              <a:latin typeface="Poppins"/>
              <a:ea typeface="Poppins"/>
              <a:cs typeface="Poppins"/>
              <a:sym typeface="Poppins"/>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619500"/>
            <a:ext cx="304800" cy="304800"/>
          </a:xfrm>
          <a:prstGeom prst="rect">
            <a:avLst/>
          </a:prstGeom>
        </p:spPr>
      </p:pic>
      <p:sp>
        <p:nvSpPr>
          <p:cNvPr id="12" name="AutoShape 12"/>
          <p:cNvSpPr/>
          <p:nvPr/>
        </p:nvSpPr>
        <p:spPr>
          <a:xfrm>
            <a:off x="1397000" y="3556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Significant annual losses (£4B+)</a:t>
            </a:r>
            <a:endParaRPr lang="en-US" sz="1100"/>
          </a:p>
          <a:p>
            <a:pPr indent="0" algn="l">
              <a:lnSpc>
                <a:spcPct val="125000"/>
              </a:lnSpc>
            </a:pPr>
            <a:r>
              <a:rPr lang="en-US" sz="1200" b="0" i="0" u="none" strike="noStrike">
                <a:solidFill>
                  <a:srgbClr val="F0F2F5">
                    <a:alpha val="70196"/>
                  </a:srgbClr>
                </a:solidFill>
                <a:latin typeface="Poppins"/>
                <a:ea typeface="Poppins"/>
                <a:cs typeface="Poppins"/>
                <a:sym typeface="Poppins"/>
              </a:rPr>
              <a:t>Direct financial impact on e-commerce revenue streams.</a:t>
            </a:r>
            <a:endParaRPr lang="en-US" sz="1200" b="0" i="0" u="none" strike="noStrike">
              <a:solidFill>
                <a:srgbClr val="F0F2F5">
                  <a:alpha val="70196"/>
                </a:srgbClr>
              </a:solidFill>
              <a:latin typeface="Poppins"/>
              <a:ea typeface="Poppins"/>
              <a:cs typeface="Poppins"/>
              <a:sym typeface="Poppins"/>
            </a:endParaRPr>
          </a:p>
        </p:txBody>
      </p:sp>
      <p:sp>
        <p:nvSpPr>
          <p:cNvPr id="13" name="AutoShape 13"/>
          <p:cNvSpPr/>
          <p:nvPr/>
        </p:nvSpPr>
        <p:spPr>
          <a:xfrm>
            <a:off x="6350000" y="1397000"/>
            <a:ext cx="5080000" cy="3556000"/>
          </a:xfrm>
          <a:prstGeom prst="roundRect">
            <a:avLst>
              <a:gd name="adj" fmla="val 3571"/>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604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Core Objectives</a:t>
            </a:r>
            <a:endParaRPr lang="en-US" sz="1100"/>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2095500"/>
            <a:ext cx="304800" cy="304800"/>
          </a:xfrm>
          <a:prstGeom prst="rect">
            <a:avLst/>
          </a:prstGeom>
        </p:spPr>
      </p:pic>
      <p:sp>
        <p:nvSpPr>
          <p:cNvPr id="16" name="AutoShape 16"/>
          <p:cNvSpPr/>
          <p:nvPr/>
        </p:nvSpPr>
        <p:spPr>
          <a:xfrm>
            <a:off x="6985000" y="2032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Build an Early Warning System</a:t>
            </a:r>
            <a:endParaRPr lang="en-US" sz="1100"/>
          </a:p>
          <a:p>
            <a:pPr indent="0" algn="l">
              <a:lnSpc>
                <a:spcPct val="125000"/>
              </a:lnSpc>
            </a:pPr>
            <a:r>
              <a:rPr lang="en-US" sz="1200" b="0" i="0" u="none" strike="noStrike">
                <a:solidFill>
                  <a:srgbClr val="F0F2F5">
                    <a:alpha val="70196"/>
                  </a:srgbClr>
                </a:solidFill>
                <a:latin typeface="Poppins"/>
                <a:ea typeface="Poppins"/>
                <a:cs typeface="Poppins"/>
                <a:sym typeface="Poppins"/>
              </a:rPr>
              <a:t>Identify high-risk churn customers proactively.</a:t>
            </a:r>
            <a:endParaRPr lang="en-US" sz="1200" b="0" i="0" u="none" strike="noStrike">
              <a:solidFill>
                <a:srgbClr val="F0F2F5">
                  <a:alpha val="70196"/>
                </a:srgbClr>
              </a:solidFill>
              <a:latin typeface="Poppins"/>
              <a:ea typeface="Poppins"/>
              <a:cs typeface="Poppins"/>
              <a:sym typeface="Poppins"/>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2857500"/>
            <a:ext cx="304800" cy="304800"/>
          </a:xfrm>
          <a:prstGeom prst="rect">
            <a:avLst/>
          </a:prstGeom>
        </p:spPr>
      </p:pic>
      <p:sp>
        <p:nvSpPr>
          <p:cNvPr id="18" name="AutoShape 18"/>
          <p:cNvSpPr/>
          <p:nvPr/>
        </p:nvSpPr>
        <p:spPr>
          <a:xfrm>
            <a:off x="6985000" y="2794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RFM Customer Segmentation</a:t>
            </a:r>
            <a:endParaRPr lang="en-US" sz="1100"/>
          </a:p>
          <a:p>
            <a:pPr indent="0" algn="l">
              <a:lnSpc>
                <a:spcPct val="125000"/>
              </a:lnSpc>
            </a:pPr>
            <a:r>
              <a:rPr lang="en-US" sz="1200" b="0" i="0" u="none" strike="noStrike">
                <a:solidFill>
                  <a:srgbClr val="F0F2F5">
                    <a:alpha val="70196"/>
                  </a:srgbClr>
                </a:solidFill>
                <a:latin typeface="Poppins"/>
                <a:ea typeface="Poppins"/>
                <a:cs typeface="Poppins"/>
                <a:sym typeface="Poppins"/>
              </a:rPr>
              <a:t>Enable precise targeting for personalized marketing.</a:t>
            </a:r>
            <a:endParaRPr lang="en-US" sz="1200" b="0" i="0" u="none" strike="noStrike">
              <a:solidFill>
                <a:srgbClr val="F0F2F5">
                  <a:alpha val="70196"/>
                </a:srgbClr>
              </a:solidFill>
              <a:latin typeface="Poppins"/>
              <a:ea typeface="Poppins"/>
              <a:cs typeface="Poppins"/>
              <a:sym typeface="Poppins"/>
            </a:endParaRPr>
          </a:p>
        </p:txBody>
      </p:sp>
      <p:pic>
        <p:nvPicPr>
          <p:cNvPr id="19" name="Picture 1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3619500"/>
            <a:ext cx="304800" cy="304800"/>
          </a:xfrm>
          <a:prstGeom prst="rect">
            <a:avLst/>
          </a:prstGeom>
        </p:spPr>
      </p:pic>
      <p:sp>
        <p:nvSpPr>
          <p:cNvPr id="20" name="AutoShape 20"/>
          <p:cNvSpPr/>
          <p:nvPr/>
        </p:nvSpPr>
        <p:spPr>
          <a:xfrm>
            <a:off x="6985000" y="3556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Boost CLV &amp; Reduce Churn</a:t>
            </a:r>
            <a:endParaRPr lang="en-US" sz="1100"/>
          </a:p>
          <a:p>
            <a:pPr indent="0" algn="l">
              <a:lnSpc>
                <a:spcPct val="125000"/>
              </a:lnSpc>
            </a:pPr>
            <a:r>
              <a:rPr lang="en-US" sz="1200" b="0" i="0" u="none" strike="noStrike">
                <a:solidFill>
                  <a:srgbClr val="F0F2F5">
                    <a:alpha val="70196"/>
                  </a:srgbClr>
                </a:solidFill>
                <a:latin typeface="Poppins"/>
                <a:ea typeface="Poppins"/>
                <a:cs typeface="Poppins"/>
                <a:sym typeface="Poppins"/>
              </a:rPr>
              <a:t>Deliver actionable strategies for sustainable growth.</a:t>
            </a:r>
            <a:endParaRPr lang="en-US" sz="1200" b="0" i="0" u="none" strike="noStrike">
              <a:solidFill>
                <a:srgbClr val="F0F2F5">
                  <a:alpha val="70196"/>
                </a:srgbClr>
              </a:solidFill>
              <a:latin typeface="Poppins"/>
              <a:ea typeface="Poppins"/>
              <a:cs typeface="Poppins"/>
              <a:sym typeface="Poppins"/>
            </a:endParaRPr>
          </a:p>
        </p:txBody>
      </p:sp>
      <p:sp>
        <p:nvSpPr>
          <p:cNvPr id="21" name="AutoShape 21"/>
          <p:cNvSpPr/>
          <p:nvPr/>
        </p:nvSpPr>
        <p:spPr>
          <a:xfrm>
            <a:off x="762000" y="5334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0F2F5">
                    <a:alpha val="80000"/>
                  </a:srgbClr>
                </a:solidFill>
                <a:latin typeface="Poppins"/>
                <a:ea typeface="Poppins"/>
                <a:cs typeface="Poppins"/>
                <a:sym typeface="Poppins"/>
              </a:rPr>
              <a:t>Bridging the gap between critical business challenges and data-driven solutions for the UK e-commerce sector.</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4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C192D">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UCI Online Retail II Dataset</a:t>
            </a:r>
            <a:endParaRPr lang="en-US" sz="1100"/>
          </a:p>
        </p:txBody>
      </p:sp>
      <p:sp>
        <p:nvSpPr>
          <p:cNvPr id="5" name="AutoShape 5"/>
          <p:cNvSpPr/>
          <p:nvPr/>
        </p:nvSpPr>
        <p:spPr>
          <a:xfrm>
            <a:off x="762000" y="1397000"/>
            <a:ext cx="3302000" cy="1651000"/>
          </a:xfrm>
          <a:prstGeom prst="roundRect">
            <a:avLst>
              <a:gd name="adj" fmla="val 7692"/>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651000"/>
            <a:ext cx="406400" cy="406400"/>
          </a:xfrm>
          <a:prstGeom prst="rect">
            <a:avLst/>
          </a:prstGeom>
        </p:spPr>
      </p:pic>
      <p:sp>
        <p:nvSpPr>
          <p:cNvPr id="7" name="AutoShape 7"/>
          <p:cNvSpPr/>
          <p:nvPr/>
        </p:nvSpPr>
        <p:spPr>
          <a:xfrm>
            <a:off x="1524000" y="16764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Data Source</a:t>
            </a:r>
            <a:endParaRPr lang="en-US" sz="1100"/>
          </a:p>
        </p:txBody>
      </p:sp>
      <p:sp>
        <p:nvSpPr>
          <p:cNvPr id="8" name="AutoShape 8"/>
          <p:cNvSpPr/>
          <p:nvPr/>
        </p:nvSpPr>
        <p:spPr>
          <a:xfrm>
            <a:off x="1016000" y="2159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0F2F5"/>
                </a:solidFill>
                <a:latin typeface="Poppins"/>
                <a:ea typeface="Poppins"/>
                <a:cs typeface="Poppins"/>
                <a:sym typeface="Poppins"/>
              </a:rPr>
              <a:t>UCI Machine Learning Repository, a trusted source for ML datasets.</a:t>
            </a:r>
            <a:endParaRPr lang="en-US" sz="1100"/>
          </a:p>
        </p:txBody>
      </p:sp>
      <p:sp>
        <p:nvSpPr>
          <p:cNvPr id="9" name="AutoShape 9"/>
          <p:cNvSpPr/>
          <p:nvPr/>
        </p:nvSpPr>
        <p:spPr>
          <a:xfrm>
            <a:off x="4445000" y="1397000"/>
            <a:ext cx="3302000" cy="1651000"/>
          </a:xfrm>
          <a:prstGeom prst="roundRect">
            <a:avLst>
              <a:gd name="adj" fmla="val 7692"/>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651000"/>
            <a:ext cx="406400" cy="406400"/>
          </a:xfrm>
          <a:prstGeom prst="rect">
            <a:avLst/>
          </a:prstGeom>
        </p:spPr>
      </p:pic>
      <p:sp>
        <p:nvSpPr>
          <p:cNvPr id="11" name="AutoShape 11"/>
          <p:cNvSpPr/>
          <p:nvPr/>
        </p:nvSpPr>
        <p:spPr>
          <a:xfrm>
            <a:off x="5207000" y="16764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Timeframe</a:t>
            </a:r>
            <a:endParaRPr lang="en-US" sz="1100"/>
          </a:p>
        </p:txBody>
      </p:sp>
      <p:sp>
        <p:nvSpPr>
          <p:cNvPr id="12" name="AutoShape 12"/>
          <p:cNvSpPr/>
          <p:nvPr/>
        </p:nvSpPr>
        <p:spPr>
          <a:xfrm>
            <a:off x="4699000" y="2159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0F2F5"/>
                </a:solidFill>
                <a:latin typeface="Poppins"/>
                <a:ea typeface="Poppins"/>
                <a:cs typeface="Poppins"/>
                <a:sym typeface="Poppins"/>
              </a:rPr>
              <a:t>Spanning two years: December 2009 to December 2011.</a:t>
            </a:r>
            <a:endParaRPr lang="en-US" sz="1100"/>
          </a:p>
        </p:txBody>
      </p:sp>
      <p:sp>
        <p:nvSpPr>
          <p:cNvPr id="13" name="AutoShape 13"/>
          <p:cNvSpPr/>
          <p:nvPr/>
        </p:nvSpPr>
        <p:spPr>
          <a:xfrm>
            <a:off x="8128000" y="1397000"/>
            <a:ext cx="3302000" cy="1651000"/>
          </a:xfrm>
          <a:prstGeom prst="roundRect">
            <a:avLst>
              <a:gd name="adj" fmla="val 7692"/>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651000"/>
            <a:ext cx="406400" cy="406400"/>
          </a:xfrm>
          <a:prstGeom prst="rect">
            <a:avLst/>
          </a:prstGeom>
        </p:spPr>
      </p:pic>
      <p:sp>
        <p:nvSpPr>
          <p:cNvPr id="15" name="AutoShape 15"/>
          <p:cNvSpPr/>
          <p:nvPr/>
        </p:nvSpPr>
        <p:spPr>
          <a:xfrm>
            <a:off x="8890000" y="16764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Volume Scale</a:t>
            </a:r>
            <a:endParaRPr lang="en-US" sz="1100"/>
          </a:p>
        </p:txBody>
      </p:sp>
      <p:sp>
        <p:nvSpPr>
          <p:cNvPr id="16" name="AutoShape 16"/>
          <p:cNvSpPr/>
          <p:nvPr/>
        </p:nvSpPr>
        <p:spPr>
          <a:xfrm>
            <a:off x="8382000" y="2159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0F2F5"/>
                </a:solidFill>
                <a:latin typeface="Poppins"/>
                <a:ea typeface="Poppins"/>
                <a:cs typeface="Poppins"/>
                <a:sym typeface="Poppins"/>
              </a:rPr>
              <a:t>1,067,371 transactions from 4,372 unique customers.</a:t>
            </a:r>
            <a:endParaRPr lang="en-US" sz="1100"/>
          </a:p>
        </p:txBody>
      </p:sp>
      <p:sp>
        <p:nvSpPr>
          <p:cNvPr id="17" name="AutoShape 17"/>
          <p:cNvSpPr/>
          <p:nvPr/>
        </p:nvSpPr>
        <p:spPr>
          <a:xfrm>
            <a:off x="762000" y="3302000"/>
            <a:ext cx="3302000" cy="1651000"/>
          </a:xfrm>
          <a:prstGeom prst="roundRect">
            <a:avLst>
              <a:gd name="adj" fmla="val 7692"/>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556000"/>
            <a:ext cx="406400" cy="406400"/>
          </a:xfrm>
          <a:prstGeom prst="rect">
            <a:avLst/>
          </a:prstGeom>
        </p:spPr>
      </p:pic>
      <p:sp>
        <p:nvSpPr>
          <p:cNvPr id="19" name="AutoShape 19"/>
          <p:cNvSpPr/>
          <p:nvPr/>
        </p:nvSpPr>
        <p:spPr>
          <a:xfrm>
            <a:off x="1524000" y="35814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Key Features</a:t>
            </a:r>
            <a:endParaRPr lang="en-US" sz="1100"/>
          </a:p>
        </p:txBody>
      </p:sp>
      <p:sp>
        <p:nvSpPr>
          <p:cNvPr id="20" name="AutoShape 20"/>
          <p:cNvSpPr/>
          <p:nvPr/>
        </p:nvSpPr>
        <p:spPr>
          <a:xfrm>
            <a:off x="1016000" y="4064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0F2F5"/>
                </a:solidFill>
                <a:latin typeface="Poppins"/>
                <a:ea typeface="Poppins"/>
                <a:cs typeface="Poppins"/>
                <a:sym typeface="Poppins"/>
              </a:rPr>
              <a:t>InvoiceNo, StockCode, Quantity, UnitPrice, CustomerID, Country.</a:t>
            </a:r>
            <a:endParaRPr lang="en-US" sz="1100"/>
          </a:p>
        </p:txBody>
      </p:sp>
      <p:sp>
        <p:nvSpPr>
          <p:cNvPr id="21" name="AutoShape 21"/>
          <p:cNvSpPr/>
          <p:nvPr/>
        </p:nvSpPr>
        <p:spPr>
          <a:xfrm>
            <a:off x="4445000" y="3302000"/>
            <a:ext cx="3302000" cy="1651000"/>
          </a:xfrm>
          <a:prstGeom prst="roundRect">
            <a:avLst>
              <a:gd name="adj" fmla="val 7692"/>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99000" y="3556000"/>
            <a:ext cx="406400" cy="406400"/>
          </a:xfrm>
          <a:prstGeom prst="rect">
            <a:avLst/>
          </a:prstGeom>
        </p:spPr>
      </p:pic>
      <p:sp>
        <p:nvSpPr>
          <p:cNvPr id="23" name="AutoShape 23"/>
          <p:cNvSpPr/>
          <p:nvPr/>
        </p:nvSpPr>
        <p:spPr>
          <a:xfrm>
            <a:off x="5207000" y="3581400"/>
            <a:ext cx="241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Geographic Focus</a:t>
            </a:r>
            <a:endParaRPr lang="en-US" sz="1100"/>
          </a:p>
        </p:txBody>
      </p:sp>
      <p:sp>
        <p:nvSpPr>
          <p:cNvPr id="24" name="AutoShape 24"/>
          <p:cNvSpPr/>
          <p:nvPr/>
        </p:nvSpPr>
        <p:spPr>
          <a:xfrm>
            <a:off x="4699000" y="4064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0F2F5"/>
                </a:solidFill>
                <a:latin typeface="Poppins"/>
                <a:ea typeface="Poppins"/>
                <a:cs typeface="Poppins"/>
                <a:sym typeface="Poppins"/>
              </a:rPr>
              <a:t>Over 90% UK transactions, fully GDPR compliant for privacy.</a:t>
            </a:r>
            <a:endParaRPr lang="en-US" sz="1100"/>
          </a:p>
        </p:txBody>
      </p:sp>
      <p:sp>
        <p:nvSpPr>
          <p:cNvPr id="25" name="AutoShape 25"/>
          <p:cNvSpPr/>
          <p:nvPr/>
        </p:nvSpPr>
        <p:spPr>
          <a:xfrm>
            <a:off x="762000" y="5334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762000" y="5588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70196"/>
                  </a:srgbClr>
                </a:solidFill>
                <a:latin typeface="Poppins"/>
                <a:ea typeface="Poppins"/>
                <a:cs typeface="Poppins"/>
                <a:sym typeface="Poppins"/>
              </a:rPr>
              <a:t>A comprehensive e-commerce dataset ideal for customer behavior analysis and market trend prediction.</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B1730">
              <a:alpha val="9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635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Data Preprocessing Steps</a:t>
            </a:r>
            <a:endParaRPr lang="en-US" sz="1100"/>
          </a:p>
        </p:txBody>
      </p:sp>
      <p:sp>
        <p:nvSpPr>
          <p:cNvPr id="5" name="AutoShape 5"/>
          <p:cNvSpPr/>
          <p:nvPr/>
        </p:nvSpPr>
        <p:spPr>
          <a:xfrm>
            <a:off x="635000" y="1778000"/>
            <a:ext cx="2032000" cy="3048000"/>
          </a:xfrm>
          <a:prstGeom prst="roundRect">
            <a:avLst>
              <a:gd name="adj" fmla="val 6250"/>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7800" y="1968500"/>
            <a:ext cx="406400" cy="406400"/>
          </a:xfrm>
          <a:prstGeom prst="rect">
            <a:avLst/>
          </a:prstGeom>
        </p:spPr>
      </p:pic>
      <p:sp>
        <p:nvSpPr>
          <p:cNvPr id="7" name="AutoShape 7"/>
          <p:cNvSpPr/>
          <p:nvPr/>
        </p:nvSpPr>
        <p:spPr>
          <a:xfrm>
            <a:off x="762000" y="24765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A9E0"/>
                </a:solidFill>
                <a:latin typeface="Poppins"/>
                <a:ea typeface="Poppins"/>
                <a:cs typeface="Poppins"/>
                <a:sym typeface="Poppins"/>
              </a:rPr>
              <a:t>Remove Missing</a:t>
            </a:r>
            <a:endParaRPr lang="en-US" sz="1100"/>
          </a:p>
        </p:txBody>
      </p:sp>
      <p:sp>
        <p:nvSpPr>
          <p:cNvPr id="8" name="AutoShape 8"/>
          <p:cNvSpPr/>
          <p:nvPr/>
        </p:nvSpPr>
        <p:spPr>
          <a:xfrm>
            <a:off x="762000" y="2921000"/>
            <a:ext cx="177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1200" b="0" i="0" u="none" strike="noStrike">
                <a:solidFill>
                  <a:srgbClr val="DCDCDC"/>
                </a:solidFill>
                <a:latin typeface="Poppins"/>
                <a:ea typeface="Poppins"/>
                <a:cs typeface="Poppins"/>
                <a:sym typeface="Poppins"/>
              </a:rPr>
              <a:t>Excluded 135,080 records with missing CustomerID to ensure validity.</a:t>
            </a:r>
            <a:endParaRPr lang="en-US" sz="1100"/>
          </a:p>
        </p:txBody>
      </p:sp>
      <p:sp>
        <p:nvSpPr>
          <p:cNvPr id="9" name="AutoShape 9"/>
          <p:cNvSpPr/>
          <p:nvPr/>
        </p:nvSpPr>
        <p:spPr>
          <a:xfrm>
            <a:off x="2857500" y="1778000"/>
            <a:ext cx="2032000" cy="3048000"/>
          </a:xfrm>
          <a:prstGeom prst="roundRect">
            <a:avLst>
              <a:gd name="adj" fmla="val 6250"/>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70300" y="1968500"/>
            <a:ext cx="406400" cy="406400"/>
          </a:xfrm>
          <a:prstGeom prst="rect">
            <a:avLst/>
          </a:prstGeom>
        </p:spPr>
      </p:pic>
      <p:sp>
        <p:nvSpPr>
          <p:cNvPr id="11" name="AutoShape 11"/>
          <p:cNvSpPr/>
          <p:nvPr/>
        </p:nvSpPr>
        <p:spPr>
          <a:xfrm>
            <a:off x="2984500" y="24765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A9E0"/>
                </a:solidFill>
                <a:latin typeface="Poppins"/>
                <a:ea typeface="Poppins"/>
                <a:cs typeface="Poppins"/>
                <a:sym typeface="Poppins"/>
              </a:rPr>
              <a:t>Filter Anomalies</a:t>
            </a:r>
            <a:endParaRPr lang="en-US" sz="1100"/>
          </a:p>
        </p:txBody>
      </p:sp>
      <p:sp>
        <p:nvSpPr>
          <p:cNvPr id="12" name="AutoShape 12"/>
          <p:cNvSpPr/>
          <p:nvPr/>
        </p:nvSpPr>
        <p:spPr>
          <a:xfrm>
            <a:off x="2984500" y="2921000"/>
            <a:ext cx="177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1200" b="0" i="0" u="none" strike="noStrike">
                <a:solidFill>
                  <a:srgbClr val="DCDCDC"/>
                </a:solidFill>
                <a:latin typeface="Poppins"/>
                <a:ea typeface="Poppins"/>
                <a:cs typeface="Poppins"/>
                <a:sym typeface="Poppins"/>
              </a:rPr>
              <a:t>Removed return orders, negative quantities, and zero unit prices.</a:t>
            </a:r>
            <a:endParaRPr lang="en-US" sz="1100"/>
          </a:p>
        </p:txBody>
      </p:sp>
      <p:sp>
        <p:nvSpPr>
          <p:cNvPr id="13" name="AutoShape 13"/>
          <p:cNvSpPr/>
          <p:nvPr/>
        </p:nvSpPr>
        <p:spPr>
          <a:xfrm>
            <a:off x="5080000" y="1778000"/>
            <a:ext cx="2032000" cy="3048000"/>
          </a:xfrm>
          <a:prstGeom prst="roundRect">
            <a:avLst>
              <a:gd name="adj" fmla="val 6250"/>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92800" y="1968500"/>
            <a:ext cx="406400" cy="406400"/>
          </a:xfrm>
          <a:prstGeom prst="rect">
            <a:avLst/>
          </a:prstGeom>
        </p:spPr>
      </p:pic>
      <p:sp>
        <p:nvSpPr>
          <p:cNvPr id="15" name="AutoShape 15"/>
          <p:cNvSpPr/>
          <p:nvPr/>
        </p:nvSpPr>
        <p:spPr>
          <a:xfrm>
            <a:off x="5207000" y="24765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A9E0"/>
                </a:solidFill>
                <a:latin typeface="Poppins"/>
                <a:ea typeface="Poppins"/>
                <a:cs typeface="Poppins"/>
                <a:sym typeface="Poppins"/>
              </a:rPr>
              <a:t>Feature Eng.</a:t>
            </a:r>
            <a:endParaRPr lang="en-US" sz="1100"/>
          </a:p>
        </p:txBody>
      </p:sp>
      <p:sp>
        <p:nvSpPr>
          <p:cNvPr id="16" name="AutoShape 16"/>
          <p:cNvSpPr/>
          <p:nvPr/>
        </p:nvSpPr>
        <p:spPr>
          <a:xfrm>
            <a:off x="5207000" y="2921000"/>
            <a:ext cx="177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1200" b="0" i="0" u="none" strike="noStrike">
                <a:solidFill>
                  <a:srgbClr val="DCDCDC"/>
                </a:solidFill>
                <a:latin typeface="Poppins"/>
                <a:ea typeface="Poppins"/>
                <a:cs typeface="Poppins"/>
                <a:sym typeface="Poppins"/>
              </a:rPr>
              <a:t>Calculated TotalAmount and converted date formats for time-series analysis.</a:t>
            </a:r>
            <a:endParaRPr lang="en-US" sz="1100"/>
          </a:p>
        </p:txBody>
      </p:sp>
      <p:sp>
        <p:nvSpPr>
          <p:cNvPr id="17" name="AutoShape 17"/>
          <p:cNvSpPr/>
          <p:nvPr/>
        </p:nvSpPr>
        <p:spPr>
          <a:xfrm>
            <a:off x="7302500" y="1778000"/>
            <a:ext cx="2032000" cy="3048000"/>
          </a:xfrm>
          <a:prstGeom prst="roundRect">
            <a:avLst>
              <a:gd name="adj" fmla="val 6250"/>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15300" y="1968500"/>
            <a:ext cx="406400" cy="406400"/>
          </a:xfrm>
          <a:prstGeom prst="rect">
            <a:avLst/>
          </a:prstGeom>
        </p:spPr>
      </p:pic>
      <p:sp>
        <p:nvSpPr>
          <p:cNvPr id="19" name="AutoShape 19"/>
          <p:cNvSpPr/>
          <p:nvPr/>
        </p:nvSpPr>
        <p:spPr>
          <a:xfrm>
            <a:off x="7429500" y="24765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A9E0"/>
                </a:solidFill>
                <a:latin typeface="Poppins"/>
                <a:ea typeface="Poppins"/>
                <a:cs typeface="Poppins"/>
                <a:sym typeface="Poppins"/>
              </a:rPr>
              <a:t>Outlier Removal</a:t>
            </a:r>
            <a:endParaRPr lang="en-US" sz="1100"/>
          </a:p>
        </p:txBody>
      </p:sp>
      <p:sp>
        <p:nvSpPr>
          <p:cNvPr id="20" name="AutoShape 20"/>
          <p:cNvSpPr/>
          <p:nvPr/>
        </p:nvSpPr>
        <p:spPr>
          <a:xfrm>
            <a:off x="7429500" y="2921000"/>
            <a:ext cx="177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1200" b="0" i="0" u="none" strike="noStrike">
                <a:solidFill>
                  <a:srgbClr val="DCDCDC"/>
                </a:solidFill>
                <a:latin typeface="Poppins"/>
                <a:ea typeface="Poppins"/>
                <a:cs typeface="Poppins"/>
                <a:sym typeface="Poppins"/>
              </a:rPr>
              <a:t>Filtered extreme values to maintain data quality and model robustness.</a:t>
            </a:r>
            <a:endParaRPr lang="en-US" sz="1100"/>
          </a:p>
        </p:txBody>
      </p:sp>
      <p:sp>
        <p:nvSpPr>
          <p:cNvPr id="21" name="AutoShape 21"/>
          <p:cNvSpPr/>
          <p:nvPr/>
        </p:nvSpPr>
        <p:spPr>
          <a:xfrm>
            <a:off x="9525000" y="1778000"/>
            <a:ext cx="2032000" cy="3048000"/>
          </a:xfrm>
          <a:prstGeom prst="roundRect">
            <a:avLst>
              <a:gd name="adj" fmla="val 6250"/>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337800" y="1968500"/>
            <a:ext cx="406400" cy="406400"/>
          </a:xfrm>
          <a:prstGeom prst="rect">
            <a:avLst/>
          </a:prstGeom>
        </p:spPr>
      </p:pic>
      <p:sp>
        <p:nvSpPr>
          <p:cNvPr id="23" name="AutoShape 23"/>
          <p:cNvSpPr/>
          <p:nvPr/>
        </p:nvSpPr>
        <p:spPr>
          <a:xfrm>
            <a:off x="9652000" y="24765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A9E0"/>
                </a:solidFill>
                <a:latin typeface="Poppins"/>
                <a:ea typeface="Poppins"/>
                <a:cs typeface="Poppins"/>
                <a:sym typeface="Poppins"/>
              </a:rPr>
              <a:t>Final Dataset</a:t>
            </a:r>
            <a:endParaRPr lang="en-US" sz="1100"/>
          </a:p>
        </p:txBody>
      </p:sp>
      <p:sp>
        <p:nvSpPr>
          <p:cNvPr id="24" name="AutoShape 24"/>
          <p:cNvSpPr/>
          <p:nvPr/>
        </p:nvSpPr>
        <p:spPr>
          <a:xfrm>
            <a:off x="9652000" y="2921000"/>
            <a:ext cx="1778000" cy="12700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1200" b="0" i="0" u="none" strike="noStrike">
                <a:solidFill>
                  <a:srgbClr val="DCDCDC"/>
                </a:solidFill>
                <a:latin typeface="Poppins"/>
                <a:ea typeface="Poppins"/>
                <a:cs typeface="Poppins"/>
                <a:sym typeface="Poppins"/>
              </a:rPr>
              <a:t>Contains 824,364 valid records and 4,372 unique customers for analysis.</a:t>
            </a:r>
            <a:endParaRPr lang="en-US" sz="1100"/>
          </a:p>
        </p:txBody>
      </p:sp>
      <p:sp>
        <p:nvSpPr>
          <p:cNvPr id="25" name="AutoShape 25"/>
          <p:cNvSpPr/>
          <p:nvPr/>
        </p:nvSpPr>
        <p:spPr>
          <a:xfrm>
            <a:off x="635000" y="5334000"/>
            <a:ext cx="10922000" cy="25400"/>
          </a:xfrm>
          <a:prstGeom prst="roundRect">
            <a:avLst>
              <a:gd name="adj" fmla="val 0"/>
            </a:avLst>
          </a:prstGeom>
          <a:solidFill>
            <a:srgbClr val="00A9E0">
              <a:alpha val="3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35000" y="5524500"/>
            <a:ext cx="1092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B4BEC8"/>
                </a:solidFill>
                <a:latin typeface="Poppins"/>
                <a:ea typeface="Poppins"/>
                <a:cs typeface="Poppins"/>
                <a:sym typeface="Poppins"/>
              </a:rPr>
              <a:t>Data preprocessing is critical for ensuring the accuracy and reliability of subsequent business intelligence models.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4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B162C">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Exploratory Data Analysis (EDA): Sales Trend</a:t>
            </a:r>
            <a:endParaRPr lang="en-US" sz="1100"/>
          </a:p>
        </p:txBody>
      </p:sp>
      <p:sp>
        <p:nvSpPr>
          <p:cNvPr id="5" name="AutoShape 5"/>
          <p:cNvSpPr/>
          <p:nvPr/>
        </p:nvSpPr>
        <p:spPr>
          <a:xfrm>
            <a:off x="762000" y="1651000"/>
            <a:ext cx="5080000" cy="3556000"/>
          </a:xfrm>
          <a:prstGeom prst="roundRect">
            <a:avLst>
              <a:gd name="adj" fmla="val 3571"/>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406400" cy="406400"/>
          </a:xfrm>
          <a:prstGeom prst="rect">
            <a:avLst/>
          </a:prstGeom>
        </p:spPr>
      </p:pic>
      <p:sp>
        <p:nvSpPr>
          <p:cNvPr id="7" name="AutoShape 7"/>
          <p:cNvSpPr/>
          <p:nvPr/>
        </p:nvSpPr>
        <p:spPr>
          <a:xfrm>
            <a:off x="1524000" y="1879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Key Finding: Seasonality</a:t>
            </a:r>
            <a:endParaRPr lang="en-US" sz="1100"/>
          </a:p>
        </p:txBody>
      </p:sp>
      <p:sp>
        <p:nvSpPr>
          <p:cNvPr id="8" name="AutoShape 8"/>
          <p:cNvSpPr/>
          <p:nvPr/>
        </p:nvSpPr>
        <p:spPr>
          <a:xfrm>
            <a:off x="1016000" y="2413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F0F2F5"/>
                </a:solidFill>
                <a:latin typeface="Poppins"/>
                <a:ea typeface="Poppins"/>
                <a:cs typeface="Poppins"/>
                <a:sym typeface="Poppins"/>
              </a:rPr>
              <a:t>A strong seasonal pattern is evident in the sales data. Analysis reveals a significant sales peak occurring consistently during the</a:t>
            </a:r>
            <a:r>
              <a:rPr lang="en-US" sz="1500" b="1" i="0" u="none" strike="noStrike">
                <a:solidFill>
                  <a:srgbClr val="00A9E0"/>
                </a:solidFill>
                <a:latin typeface="Poppins"/>
                <a:ea typeface="Poppins"/>
                <a:cs typeface="Poppins"/>
                <a:sym typeface="Poppins"/>
              </a:rPr>
              <a:t>November-December Christmas season</a:t>
            </a:r>
            <a:r>
              <a:rPr lang="en-US" sz="1500" b="0" i="0" u="none" strike="noStrike">
                <a:solidFill>
                  <a:srgbClr val="F0F2F5"/>
                </a:solidFill>
                <a:latin typeface="Poppins"/>
                <a:ea typeface="Poppins"/>
                <a:cs typeface="Poppins"/>
                <a:sym typeface="Poppins"/>
              </a:rPr>
              <a:t>.</a:t>
            </a:r>
            <a:endParaRPr lang="en-US" sz="1100"/>
          </a:p>
          <a:p>
            <a:pPr indent="0" algn="l">
              <a:lnSpc>
                <a:spcPct val="117000"/>
              </a:lnSpc>
            </a:pPr>
            <a:r>
              <a:rPr lang="en-US" sz="1500" b="0" i="0" u="none" strike="noStrike">
                <a:solidFill>
                  <a:srgbClr val="F0F2F5"/>
                </a:solidFill>
                <a:latin typeface="Poppins"/>
                <a:ea typeface="Poppins"/>
                <a:cs typeface="Poppins"/>
                <a:sym typeface="Poppins"/>
              </a:rPr>
              <a:t>This insight highlights the critical importance of developing targeted holiday marketing strategies to maximize revenue during this high-demand period.</a:t>
            </a:r>
            <a:endParaRPr lang="en-US" sz="1500" b="0" i="0" u="none" strike="noStrike">
              <a:solidFill>
                <a:srgbClr val="F0F2F5"/>
              </a:solidFill>
              <a:latin typeface="Poppins"/>
              <a:ea typeface="Poppins"/>
              <a:cs typeface="Poppins"/>
              <a:sym typeface="Poppins"/>
            </a:endParaRPr>
          </a:p>
        </p:txBody>
      </p:sp>
      <p:sp>
        <p:nvSpPr>
          <p:cNvPr id="9" name="AutoShape 9"/>
          <p:cNvSpPr/>
          <p:nvPr/>
        </p:nvSpPr>
        <p:spPr>
          <a:xfrm>
            <a:off x="6350000" y="1651000"/>
            <a:ext cx="4826000" cy="3556000"/>
          </a:xfrm>
          <a:prstGeom prst="roundRect">
            <a:avLst>
              <a:gd name="adj" fmla="val 3571"/>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905000"/>
            <a:ext cx="406400" cy="406400"/>
          </a:xfrm>
          <a:prstGeom prst="rect">
            <a:avLst/>
          </a:prstGeom>
        </p:spPr>
      </p:pic>
      <p:sp>
        <p:nvSpPr>
          <p:cNvPr id="11" name="AutoShape 11"/>
          <p:cNvSpPr/>
          <p:nvPr/>
        </p:nvSpPr>
        <p:spPr>
          <a:xfrm>
            <a:off x="7112000" y="1879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Visualization: 2010-2011 Trend</a:t>
            </a:r>
            <a:endParaRPr lang="en-US" sz="1100"/>
          </a:p>
        </p:txBody>
      </p:sp>
      <p:pic>
        <p:nvPicPr>
          <p:cNvPr id="12" name="Picture 12"/>
          <p:cNvPicPr>
            <a:picLocks noChangeAspect="1"/>
          </p:cNvPicPr>
          <p:nvPr/>
        </p:nvPicPr>
        <p:blipFill>
          <a:blip r:embed="rId6"/>
          <a:srcRect l="43" r="43"/>
          <a:stretch>
            <a:fillRect/>
          </a:stretch>
        </p:blipFill>
        <p:spPr>
          <a:xfrm>
            <a:off x="7747000" y="2413000"/>
            <a:ext cx="2032000" cy="1955800"/>
          </a:xfrm>
          <a:prstGeom prst="roundRect">
            <a:avLst>
              <a:gd name="adj" fmla="val 6493"/>
            </a:avLst>
          </a:prstGeom>
          <a:noFill/>
          <a:ln w="12700" cap="flat" cmpd="sng">
            <a:solidFill>
              <a:srgbClr val="FFFFFF">
                <a:alpha val="20000"/>
              </a:srgbClr>
            </a:solidFill>
            <a:prstDash val="solid"/>
            <a:round/>
          </a:ln>
        </p:spPr>
      </p:pic>
      <p:sp>
        <p:nvSpPr>
          <p:cNvPr id="13" name="AutoShape 13"/>
          <p:cNvSpPr/>
          <p:nvPr/>
        </p:nvSpPr>
        <p:spPr>
          <a:xfrm>
            <a:off x="6604000" y="4445000"/>
            <a:ext cx="431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0F2F5">
                    <a:alpha val="80000"/>
                  </a:srgbClr>
                </a:solidFill>
                <a:latin typeface="Poppins"/>
                <a:ea typeface="Poppins"/>
                <a:cs typeface="Poppins"/>
                <a:sym typeface="Poppins"/>
              </a:rPr>
              <a:t>Monthly sales volume clearly showing Q4 spike</a:t>
            </a:r>
            <a:endParaRPr lang="en-US" sz="1100"/>
          </a:p>
        </p:txBody>
      </p:sp>
      <p:sp>
        <p:nvSpPr>
          <p:cNvPr id="14" name="AutoShape 14"/>
          <p:cNvSpPr/>
          <p:nvPr/>
        </p:nvSpPr>
        <p:spPr>
          <a:xfrm>
            <a:off x="762000" y="5588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5778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C8C8C8"/>
                </a:solidFill>
                <a:latin typeface="Poppins"/>
                <a:ea typeface="Poppins"/>
                <a:cs typeface="Poppins"/>
                <a:sym typeface="Poppins"/>
              </a:rPr>
              <a:t>Data Source: Retail Transaction Records (2010-2011) | Analysis: EDA Team</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762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PART 2: Customer Segmentation Analysis</a:t>
            </a:r>
            <a:endParaRPr lang="en-US" sz="1100"/>
          </a:p>
        </p:txBody>
      </p:sp>
      <p:sp>
        <p:nvSpPr>
          <p:cNvPr id="5" name="AutoShape 5"/>
          <p:cNvSpPr/>
          <p:nvPr/>
        </p:nvSpPr>
        <p:spPr>
          <a:xfrm>
            <a:off x="762000" y="1778000"/>
            <a:ext cx="5080000" cy="3048000"/>
          </a:xfrm>
          <a:prstGeom prst="roundRect">
            <a:avLst>
              <a:gd name="adj" fmla="val 4166"/>
            </a:avLst>
          </a:prstGeom>
          <a:solidFill>
            <a:srgbClr val="FFFFFF">
              <a:alpha val="8000"/>
            </a:srgbClr>
          </a:solidFill>
          <a:ln w="12700" cap="flat" cmpd="sng">
            <a:solidFill>
              <a:srgbClr val="00A9E0">
                <a:alpha val="40000"/>
              </a:srgbClr>
            </a:solidFill>
            <a:prstDash val="solid"/>
            <a:round/>
          </a:ln>
        </p:spPr>
        <p:txBody>
          <a:bodyPr vert="horz" wrap="square" lIns="0" tIns="0" rIns="0" bIns="0" rtlCol="0" anchor="ctr" anchorCtr="0"/>
          <a:lstStyle/>
          <a:p>
            <a:pPr algn="ctr">
              <a:defRPr/>
            </a:pPr>
          </a:p>
        </p:txBody>
      </p:sp>
      <p:sp>
        <p:nvSpPr>
          <p:cNvPr id="6" name="AutoShape 6"/>
          <p:cNvSpPr/>
          <p:nvPr/>
        </p:nvSpPr>
        <p:spPr>
          <a:xfrm>
            <a:off x="1016000" y="1968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Key Finding</a:t>
            </a:r>
            <a:endParaRPr lang="en-US" sz="1100"/>
          </a:p>
        </p:txBody>
      </p:sp>
      <p:sp>
        <p:nvSpPr>
          <p:cNvPr id="7" name="AutoShape 7"/>
          <p:cNvSpPr/>
          <p:nvPr/>
        </p:nvSpPr>
        <p:spPr>
          <a:xfrm>
            <a:off x="1016000" y="2413000"/>
            <a:ext cx="4572000" cy="203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500" b="0" i="0" u="none" strike="noStrike">
                <a:solidFill>
                  <a:srgbClr val="F0F2F5"/>
                </a:solidFill>
                <a:latin typeface="Poppins"/>
                <a:ea typeface="Poppins"/>
                <a:cs typeface="Poppins"/>
                <a:sym typeface="Poppins"/>
              </a:rPr>
              <a:t>Over 90% of all transactions originate from the UK, indicating a highly concentrated domestic market. This allows the retailer to focus its marketing efforts primarily on the UK audience for maximum efficiency.</a:t>
            </a:r>
            <a:endParaRPr lang="en-US" sz="1100"/>
          </a:p>
        </p:txBody>
      </p:sp>
      <p:pic>
        <p:nvPicPr>
          <p:cNvPr id="8" name="Picture 8"/>
          <p:cNvPicPr>
            <a:picLocks noChangeAspect="1"/>
          </p:cNvPicPr>
          <p:nvPr/>
        </p:nvPicPr>
        <p:blipFill>
          <a:blip r:embed="rId2"/>
          <a:stretch>
            <a:fillRect/>
          </a:stretch>
        </p:blipFill>
        <p:spPr>
          <a:xfrm>
            <a:off x="6350000" y="1778000"/>
            <a:ext cx="4826000" cy="3048000"/>
          </a:xfrm>
          <a:prstGeom prst="rect">
            <a:avLst/>
          </a:prstGeom>
          <a:ln w="12700">
            <a:noFill/>
            <a:prstDash val="solid"/>
          </a:ln>
        </p:spPr>
      </p:pic>
      <p:sp>
        <p:nvSpPr>
          <p:cNvPr id="9" name="AutoShape 9"/>
          <p:cNvSpPr/>
          <p:nvPr/>
        </p:nvSpPr>
        <p:spPr>
          <a:xfrm>
            <a:off x="762000" y="5334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762000" y="55880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600" b="0" i="0" u="none" strike="noStrike">
                <a:solidFill>
                  <a:srgbClr val="FFFFFF">
                    <a:alpha val="80000"/>
                  </a:srgbClr>
                </a:solidFill>
                <a:latin typeface="Poppins"/>
                <a:ea typeface="Poppins"/>
                <a:cs typeface="Poppins"/>
                <a:sym typeface="Poppins"/>
              </a:rPr>
              <a:t>"The data strongly suggests a domestic-focused strategy will yield the highest ROI."</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EDA: Customer Value Distribution (Pareto Principle)</a:t>
            </a:r>
            <a:endParaRPr lang="en-US" sz="1100"/>
          </a:p>
        </p:txBody>
      </p:sp>
      <p:sp>
        <p:nvSpPr>
          <p:cNvPr id="5" name="AutoShape 5"/>
          <p:cNvSpPr/>
          <p:nvPr/>
        </p:nvSpPr>
        <p:spPr>
          <a:xfrm>
            <a:off x="762000" y="1651000"/>
            <a:ext cx="5080000" cy="3302000"/>
          </a:xfrm>
          <a:prstGeom prst="roundRect">
            <a:avLst>
              <a:gd name="adj" fmla="val 384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Key Finding: The 80/20 Rule</a:t>
            </a:r>
            <a:endParaRPr lang="en-US" sz="1100"/>
          </a:p>
        </p:txBody>
      </p:sp>
      <p:sp>
        <p:nvSpPr>
          <p:cNvPr id="7" name="AutoShape 7"/>
          <p:cNvSpPr/>
          <p:nvPr/>
        </p:nvSpPr>
        <p:spPr>
          <a:xfrm>
            <a:off x="1016000" y="2286000"/>
            <a:ext cx="4572000" cy="228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500" b="0" i="0" u="none" strike="noStrike">
                <a:solidFill>
                  <a:srgbClr val="F0F2F5"/>
                </a:solidFill>
                <a:latin typeface="Poppins"/>
                <a:ea typeface="Poppins"/>
                <a:cs typeface="Poppins"/>
                <a:sym typeface="Poppins"/>
              </a:rPr>
              <a:t>The Pareto Principle holds true for our dataset: the</a:t>
            </a:r>
            <a:r>
              <a:rPr lang="en-US" sz="1500" b="1" i="0" u="none" strike="noStrike">
                <a:solidFill>
                  <a:srgbClr val="00A9E0"/>
                </a:solidFill>
                <a:latin typeface="Poppins"/>
                <a:ea typeface="Poppins"/>
                <a:cs typeface="Poppins"/>
                <a:sym typeface="Poppins"/>
              </a:rPr>
              <a:t>top 20% of high-value customers</a:t>
            </a:r>
            <a:r>
              <a:rPr lang="en-US" sz="1500" b="0" i="0" u="none" strike="noStrike">
                <a:solidFill>
                  <a:srgbClr val="F0F2F5"/>
                </a:solidFill>
                <a:latin typeface="Poppins"/>
                <a:ea typeface="Poppins"/>
                <a:cs typeface="Poppins"/>
                <a:sym typeface="Poppins"/>
              </a:rPr>
              <a:t>contribute approximately</a:t>
            </a:r>
            <a:r>
              <a:rPr lang="en-US" sz="1500" b="1" i="0" u="none" strike="noStrike">
                <a:solidFill>
                  <a:srgbClr val="00A9E0"/>
                </a:solidFill>
                <a:latin typeface="Poppins"/>
                <a:ea typeface="Poppins"/>
                <a:cs typeface="Poppins"/>
                <a:sym typeface="Poppins"/>
              </a:rPr>
              <a:t>80% of the total revenue</a:t>
            </a:r>
            <a:r>
              <a:rPr lang="en-US" sz="1500" b="0" i="0" u="none" strike="noStrike">
                <a:solidFill>
                  <a:srgbClr val="F0F2F5"/>
                </a:solidFill>
                <a:latin typeface="Poppins"/>
                <a:ea typeface="Poppins"/>
                <a:cs typeface="Poppins"/>
                <a:sym typeface="Poppins"/>
              </a:rPr>
              <a:t>.</a:t>
            </a:r>
            <a:endParaRPr lang="en-US" sz="1100"/>
          </a:p>
          <a:p>
            <a:pPr indent="0" algn="l">
              <a:lnSpc>
                <a:spcPct val="117000"/>
              </a:lnSpc>
            </a:pPr>
          </a:p>
          <a:p>
            <a:pPr indent="0" algn="l">
              <a:lnSpc>
                <a:spcPct val="117000"/>
              </a:lnSpc>
            </a:pPr>
            <a:r>
              <a:rPr lang="en-US" sz="1500" b="0" i="0" u="none" strike="noStrike">
                <a:solidFill>
                  <a:srgbClr val="F0F2F5"/>
                </a:solidFill>
                <a:latin typeface="Poppins"/>
                <a:ea typeface="Poppins"/>
                <a:cs typeface="Poppins"/>
                <a:sym typeface="Poppins"/>
              </a:rPr>
              <a:t>This highlights the critical importance of prioritizing retention strategies for this small, impactful segment.</a:t>
            </a:r>
            <a:endParaRPr lang="en-US" sz="1500" b="0" i="0" u="none" strike="noStrike">
              <a:solidFill>
                <a:srgbClr val="F0F2F5"/>
              </a:solidFill>
              <a:latin typeface="Poppins"/>
              <a:ea typeface="Poppins"/>
              <a:cs typeface="Poppins"/>
              <a:sym typeface="Poppins"/>
            </a:endParaRPr>
          </a:p>
        </p:txBody>
      </p:sp>
      <p:sp>
        <p:nvSpPr>
          <p:cNvPr id="8" name="AutoShape 8"/>
          <p:cNvSpPr/>
          <p:nvPr/>
        </p:nvSpPr>
        <p:spPr>
          <a:xfrm>
            <a:off x="6223000" y="1651000"/>
            <a:ext cx="4572000" cy="2794000"/>
          </a:xfrm>
          <a:prstGeom prst="roundRect">
            <a:avLst>
              <a:gd name="adj" fmla="val 4545"/>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srcRect/>
          <a:stretch>
            <a:fillRect/>
          </a:stretch>
        </p:blipFill>
        <p:spPr>
          <a:xfrm>
            <a:off x="7366000" y="1841500"/>
            <a:ext cx="2286000" cy="1714500"/>
          </a:xfrm>
          <a:prstGeom prst="roundRect">
            <a:avLst>
              <a:gd name="adj" fmla="val 7407"/>
            </a:avLst>
          </a:prstGeom>
          <a:noFill/>
          <a:ln w="25400" cap="flat" cmpd="sng">
            <a:noFill/>
            <a:prstDash val="solid"/>
            <a:round/>
          </a:ln>
          <a:effectLst>
            <a:outerShdw blurRad="101600" dist="50800" dir="5400000" algn="tl" rotWithShape="0">
              <a:srgbClr val="000000">
                <a:alpha val="30000"/>
              </a:srgbClr>
            </a:outerShdw>
          </a:effectLst>
        </p:spPr>
      </p:pic>
      <p:sp>
        <p:nvSpPr>
          <p:cNvPr id="10" name="AutoShape 10"/>
          <p:cNvSpPr/>
          <p:nvPr/>
        </p:nvSpPr>
        <p:spPr>
          <a:xfrm>
            <a:off x="6477000" y="3746500"/>
            <a:ext cx="406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B4BEC8"/>
                </a:solidFill>
                <a:latin typeface="Poppins"/>
                <a:ea typeface="Poppins"/>
                <a:cs typeface="Poppins"/>
                <a:sym typeface="Poppins"/>
              </a:rPr>
              <a:t>Visualization: Revenue Contribution Distribution</a:t>
            </a:r>
            <a:endParaRPr lang="en-US" sz="1100"/>
          </a:p>
        </p:txBody>
      </p:sp>
      <p:sp>
        <p:nvSpPr>
          <p:cNvPr id="11" name="AutoShape 11"/>
          <p:cNvSpPr/>
          <p:nvPr/>
        </p:nvSpPr>
        <p:spPr>
          <a:xfrm>
            <a:off x="0" y="6781800"/>
            <a:ext cx="12192000" cy="76200"/>
          </a:xfrm>
          <a:prstGeom prst="roundRect">
            <a:avLst>
              <a:gd name="adj" fmla="val 0"/>
            </a:avLst>
          </a:prstGeom>
          <a:gradFill rotWithShape="1">
            <a:gsLst>
              <a:gs pos="0">
                <a:srgbClr val="00A9E0">
                  <a:alpha val="100000"/>
                </a:srgbClr>
              </a:gs>
              <a:gs pos="100000">
                <a:srgbClr val="00142F">
                  <a:alpha val="100000"/>
                </a:srgbClr>
              </a:gs>
            </a:gsLst>
            <a:lin ang="0"/>
          </a:gra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61000" y="1879600"/>
            <a:ext cx="304800" cy="304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4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1E">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Customer Segmentation: RFM Model</a:t>
            </a:r>
            <a:endParaRPr lang="en-US" sz="1100"/>
          </a:p>
        </p:txBody>
      </p:sp>
      <p:sp>
        <p:nvSpPr>
          <p:cNvPr id="5" name="AutoShape 5"/>
          <p:cNvSpPr/>
          <p:nvPr/>
        </p:nvSpPr>
        <p:spPr>
          <a:xfrm>
            <a:off x="762000" y="1651000"/>
            <a:ext cx="3302000" cy="3302000"/>
          </a:xfrm>
          <a:prstGeom prst="roundRect">
            <a:avLst>
              <a:gd name="adj" fmla="val 384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08200" y="1905000"/>
            <a:ext cx="609600" cy="609600"/>
          </a:xfrm>
          <a:prstGeom prst="rect">
            <a:avLst/>
          </a:prstGeom>
        </p:spPr>
      </p:pic>
      <p:sp>
        <p:nvSpPr>
          <p:cNvPr id="7" name="AutoShape 7"/>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A9E0"/>
                </a:solidFill>
                <a:latin typeface="Poppins"/>
                <a:ea typeface="Poppins"/>
                <a:cs typeface="Poppins"/>
                <a:sym typeface="Poppins"/>
              </a:rPr>
              <a:t>Recency (R)</a:t>
            </a:r>
            <a:endParaRPr lang="en-US" sz="1100"/>
          </a:p>
        </p:txBody>
      </p:sp>
      <p:sp>
        <p:nvSpPr>
          <p:cNvPr id="8" name="AutoShape 8"/>
          <p:cNvSpPr/>
          <p:nvPr/>
        </p:nvSpPr>
        <p:spPr>
          <a:xfrm>
            <a:off x="1016000" y="3111500"/>
            <a:ext cx="2794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300" b="0" i="0" u="none" strike="noStrike">
                <a:solidFill>
                  <a:srgbClr val="F0F2F5"/>
                </a:solidFill>
                <a:latin typeface="Poppins"/>
                <a:ea typeface="Poppins"/>
                <a:cs typeface="Poppins"/>
                <a:sym typeface="Poppins"/>
              </a:rPr>
              <a:t>Measures the number of days since a customer's last purchase. A lower value indicates a more recent purchase and potentially higher engagement.</a:t>
            </a:r>
            <a:endParaRPr lang="en-US" sz="1100"/>
          </a:p>
        </p:txBody>
      </p:sp>
      <p:sp>
        <p:nvSpPr>
          <p:cNvPr id="9" name="AutoShape 9"/>
          <p:cNvSpPr/>
          <p:nvPr/>
        </p:nvSpPr>
        <p:spPr>
          <a:xfrm>
            <a:off x="4445000" y="1651000"/>
            <a:ext cx="3302000" cy="3302000"/>
          </a:xfrm>
          <a:prstGeom prst="roundRect">
            <a:avLst>
              <a:gd name="adj" fmla="val 384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905000"/>
            <a:ext cx="609600" cy="609600"/>
          </a:xfrm>
          <a:prstGeom prst="rect">
            <a:avLst/>
          </a:prstGeom>
        </p:spPr>
      </p:pic>
      <p:sp>
        <p:nvSpPr>
          <p:cNvPr id="11" name="AutoShape 11"/>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A9E0"/>
                </a:solidFill>
                <a:latin typeface="Poppins"/>
                <a:ea typeface="Poppins"/>
                <a:cs typeface="Poppins"/>
                <a:sym typeface="Poppins"/>
              </a:rPr>
              <a:t>Frequency (F)</a:t>
            </a:r>
            <a:endParaRPr lang="en-US" sz="1100"/>
          </a:p>
        </p:txBody>
      </p:sp>
      <p:sp>
        <p:nvSpPr>
          <p:cNvPr id="12" name="AutoShape 12"/>
          <p:cNvSpPr/>
          <p:nvPr/>
        </p:nvSpPr>
        <p:spPr>
          <a:xfrm>
            <a:off x="4699000" y="3111500"/>
            <a:ext cx="2794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300" b="0" i="0" u="none" strike="noStrike">
                <a:solidFill>
                  <a:srgbClr val="F0F2F5"/>
                </a:solidFill>
                <a:latin typeface="Poppins"/>
                <a:ea typeface="Poppins"/>
                <a:cs typeface="Poppins"/>
                <a:sym typeface="Poppins"/>
              </a:rPr>
              <a:t>Represents the total number of purchases a customer has made. Higher frequency indicates greater loyalty and regular interaction with the brand.</a:t>
            </a:r>
            <a:endParaRPr lang="en-US" sz="1100"/>
          </a:p>
        </p:txBody>
      </p:sp>
      <p:sp>
        <p:nvSpPr>
          <p:cNvPr id="13" name="AutoShape 13"/>
          <p:cNvSpPr/>
          <p:nvPr/>
        </p:nvSpPr>
        <p:spPr>
          <a:xfrm>
            <a:off x="8128000" y="1651000"/>
            <a:ext cx="3302000" cy="3302000"/>
          </a:xfrm>
          <a:prstGeom prst="roundRect">
            <a:avLst>
              <a:gd name="adj" fmla="val 384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74200" y="1905000"/>
            <a:ext cx="609600" cy="609600"/>
          </a:xfrm>
          <a:prstGeom prst="rect">
            <a:avLst/>
          </a:prstGeom>
        </p:spPr>
      </p:pic>
      <p:sp>
        <p:nvSpPr>
          <p:cNvPr id="15" name="AutoShape 15"/>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A9E0"/>
                </a:solidFill>
                <a:latin typeface="Poppins"/>
                <a:ea typeface="Poppins"/>
                <a:cs typeface="Poppins"/>
                <a:sym typeface="Poppins"/>
              </a:rPr>
              <a:t>Monetary (M)</a:t>
            </a:r>
            <a:endParaRPr lang="en-US" sz="1100"/>
          </a:p>
        </p:txBody>
      </p:sp>
      <p:sp>
        <p:nvSpPr>
          <p:cNvPr id="16" name="AutoShape 16"/>
          <p:cNvSpPr/>
          <p:nvPr/>
        </p:nvSpPr>
        <p:spPr>
          <a:xfrm>
            <a:off x="8382000" y="3111500"/>
            <a:ext cx="2794000" cy="1397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300" b="0" i="0" u="none" strike="noStrike">
                <a:solidFill>
                  <a:srgbClr val="F0F2F5"/>
                </a:solidFill>
                <a:latin typeface="Poppins"/>
                <a:ea typeface="Poppins"/>
                <a:cs typeface="Poppins"/>
                <a:sym typeface="Poppins"/>
              </a:rPr>
              <a:t>Calculates the total amount of money a customer has spent. Higher monetary value indicates a higher-value customer contributing more to revenue.</a:t>
            </a:r>
            <a:endParaRPr lang="en-US" sz="1100"/>
          </a:p>
        </p:txBody>
      </p:sp>
      <p:sp>
        <p:nvSpPr>
          <p:cNvPr id="17" name="AutoShape 17"/>
          <p:cNvSpPr/>
          <p:nvPr/>
        </p:nvSpPr>
        <p:spPr>
          <a:xfrm>
            <a:off x="762000" y="5461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62000" y="5715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70196"/>
                  </a:srgbClr>
                </a:solidFill>
                <a:latin typeface="Poppins"/>
                <a:ea typeface="Poppins"/>
                <a:cs typeface="Poppins"/>
                <a:sym typeface="Poppins"/>
              </a:rPr>
              <a:t>These three metrics provide a comprehensive view of customer behavior, enabling precise segmentation.</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K-Means Clustering: Optimal K=4</a:t>
            </a:r>
            <a:endParaRPr lang="en-US" sz="1100"/>
          </a:p>
        </p:txBody>
      </p:sp>
      <p:sp>
        <p:nvSpPr>
          <p:cNvPr id="5" name="AutoShape 5"/>
          <p:cNvSpPr/>
          <p:nvPr/>
        </p:nvSpPr>
        <p:spPr>
          <a:xfrm>
            <a:off x="762000" y="1397000"/>
            <a:ext cx="5080000" cy="1270000"/>
          </a:xfrm>
          <a:prstGeom prst="roundRect">
            <a:avLst>
              <a:gd name="adj" fmla="val 10000"/>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587500"/>
            <a:ext cx="406400" cy="406400"/>
          </a:xfrm>
          <a:prstGeom prst="rect">
            <a:avLst/>
          </a:prstGeom>
        </p:spPr>
      </p:pic>
      <p:sp>
        <p:nvSpPr>
          <p:cNvPr id="7" name="AutoShape 7"/>
          <p:cNvSpPr/>
          <p:nvPr/>
        </p:nvSpPr>
        <p:spPr>
          <a:xfrm>
            <a:off x="1524000" y="1524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Methodology</a:t>
            </a:r>
            <a:endParaRPr lang="en-US" sz="1100"/>
          </a:p>
        </p:txBody>
      </p:sp>
      <p:sp>
        <p:nvSpPr>
          <p:cNvPr id="8" name="AutoShape 8"/>
          <p:cNvSpPr/>
          <p:nvPr/>
        </p:nvSpPr>
        <p:spPr>
          <a:xfrm>
            <a:off x="1524000" y="19050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0F2F5"/>
                </a:solidFill>
                <a:latin typeface="Poppins"/>
                <a:ea typeface="Poppins"/>
                <a:cs typeface="Poppins"/>
                <a:sym typeface="Poppins"/>
              </a:rPr>
              <a:t>Applied the K-Means algorithm to segment customers using their RFM (Recency, Frequency, Monetary) scores as key features.</a:t>
            </a:r>
            <a:endParaRPr lang="en-US" sz="1100"/>
          </a:p>
        </p:txBody>
      </p:sp>
      <p:sp>
        <p:nvSpPr>
          <p:cNvPr id="9" name="AutoShape 9"/>
          <p:cNvSpPr/>
          <p:nvPr/>
        </p:nvSpPr>
        <p:spPr>
          <a:xfrm>
            <a:off x="762000" y="2857500"/>
            <a:ext cx="5080000" cy="1270000"/>
          </a:xfrm>
          <a:prstGeom prst="roundRect">
            <a:avLst>
              <a:gd name="adj" fmla="val 10000"/>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048000"/>
            <a:ext cx="406400" cy="406400"/>
          </a:xfrm>
          <a:prstGeom prst="rect">
            <a:avLst/>
          </a:prstGeom>
        </p:spPr>
      </p:pic>
      <p:sp>
        <p:nvSpPr>
          <p:cNvPr id="11" name="AutoShape 11"/>
          <p:cNvSpPr/>
          <p:nvPr/>
        </p:nvSpPr>
        <p:spPr>
          <a:xfrm>
            <a:off x="1524000" y="2984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Optimal Cluster Number</a:t>
            </a:r>
            <a:endParaRPr lang="en-US" sz="1100"/>
          </a:p>
        </p:txBody>
      </p:sp>
      <p:sp>
        <p:nvSpPr>
          <p:cNvPr id="12" name="AutoShape 12"/>
          <p:cNvSpPr/>
          <p:nvPr/>
        </p:nvSpPr>
        <p:spPr>
          <a:xfrm>
            <a:off x="1524000" y="3365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0F2F5"/>
                </a:solidFill>
                <a:latin typeface="Poppins"/>
                <a:ea typeface="Poppins"/>
                <a:cs typeface="Poppins"/>
                <a:sym typeface="Poppins"/>
              </a:rPr>
              <a:t>Elbow method determined K=4 as optimal. Silhouette score of 0.55 confirms well-defined separation between clusters.</a:t>
            </a:r>
            <a:endParaRPr lang="en-US" sz="1100"/>
          </a:p>
        </p:txBody>
      </p:sp>
      <p:sp>
        <p:nvSpPr>
          <p:cNvPr id="13" name="AutoShape 13"/>
          <p:cNvSpPr/>
          <p:nvPr/>
        </p:nvSpPr>
        <p:spPr>
          <a:xfrm>
            <a:off x="762000" y="4318000"/>
            <a:ext cx="5080000" cy="1270000"/>
          </a:xfrm>
          <a:prstGeom prst="roundRect">
            <a:avLst>
              <a:gd name="adj" fmla="val 10000"/>
            </a:avLst>
          </a:prstGeom>
          <a:solidFill>
            <a:srgbClr val="FFFFFF">
              <a:alpha val="5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08500"/>
            <a:ext cx="406400" cy="406400"/>
          </a:xfrm>
          <a:prstGeom prst="rect">
            <a:avLst/>
          </a:prstGeom>
        </p:spPr>
      </p:pic>
      <p:sp>
        <p:nvSpPr>
          <p:cNvPr id="15" name="AutoShape 15"/>
          <p:cNvSpPr/>
          <p:nvPr/>
        </p:nvSpPr>
        <p:spPr>
          <a:xfrm>
            <a:off x="1524000" y="4445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Segment Visualization</a:t>
            </a:r>
            <a:endParaRPr lang="en-US" sz="1100"/>
          </a:p>
        </p:txBody>
      </p:sp>
      <p:sp>
        <p:nvSpPr>
          <p:cNvPr id="16" name="AutoShape 16"/>
          <p:cNvSpPr/>
          <p:nvPr/>
        </p:nvSpPr>
        <p:spPr>
          <a:xfrm>
            <a:off x="1524000" y="48260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0F2F5"/>
                </a:solidFill>
                <a:latin typeface="Poppins"/>
                <a:ea typeface="Poppins"/>
                <a:cs typeface="Poppins"/>
                <a:sym typeface="Poppins"/>
              </a:rPr>
              <a:t>Scatter plot (Frequency vs. Monetary) clearly shows four distinct customer segments with varying spending behaviors.</a:t>
            </a:r>
            <a:endParaRPr lang="en-US" sz="1100"/>
          </a:p>
        </p:txBody>
      </p:sp>
      <p:sp>
        <p:nvSpPr>
          <p:cNvPr id="17" name="AutoShape 17"/>
          <p:cNvSpPr/>
          <p:nvPr/>
        </p:nvSpPr>
        <p:spPr>
          <a:xfrm>
            <a:off x="6350000" y="1778000"/>
            <a:ext cx="4572000" cy="2794000"/>
          </a:xfrm>
          <a:prstGeom prst="roundRect">
            <a:avLst>
              <a:gd name="adj" fmla="val 4545"/>
            </a:avLst>
          </a:prstGeom>
          <a:solidFill>
            <a:srgbClr val="FFFFFF">
              <a:alpha val="100000"/>
            </a:srgbClr>
          </a:solidFill>
          <a:ln w="25400" cap="flat" cmpd="sng">
            <a:noFill/>
            <a:prstDash val="solid"/>
            <a:round/>
          </a:ln>
          <a:effectLst>
            <a:outerShdw blurRad="254000" dist="127000" dir="5400000" algn="tl" rotWithShape="0">
              <a:srgbClr val="00A9E0">
                <a:alpha val="40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srcRect t="172" b="172"/>
          <a:stretch>
            <a:fillRect/>
          </a:stretch>
        </p:blipFill>
        <p:spPr>
          <a:xfrm>
            <a:off x="6477000" y="1892300"/>
            <a:ext cx="4318000" cy="2565400"/>
          </a:xfrm>
          <a:prstGeom prst="rect">
            <a:avLst/>
          </a:prstGeom>
          <a:noFill/>
          <a:ln w="25400" cap="flat" cmpd="sng">
            <a:noFill/>
            <a:prstDash val="solid"/>
            <a:round/>
          </a:ln>
        </p:spPr>
      </p:pic>
      <p:sp>
        <p:nvSpPr>
          <p:cNvPr id="19" name="AutoShape 19"/>
          <p:cNvSpPr/>
          <p:nvPr/>
        </p:nvSpPr>
        <p:spPr>
          <a:xfrm>
            <a:off x="6350000" y="46990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70196"/>
                  </a:srgbClr>
                </a:solidFill>
                <a:latin typeface="Poppins"/>
                <a:ea typeface="Poppins"/>
                <a:cs typeface="Poppins"/>
                <a:sym typeface="Poppins"/>
              </a:rPr>
              <a:t>Figure: Customer Segmentation Scatter Plot (Frequency vs. Monetary)</a:t>
            </a:r>
            <a:endParaRPr lang="en-US" sz="1100"/>
          </a:p>
        </p:txBody>
      </p:sp>
      <p:sp>
        <p:nvSpPr>
          <p:cNvPr id="20" name="AutoShape 20"/>
          <p:cNvSpPr/>
          <p:nvPr/>
        </p:nvSpPr>
        <p:spPr>
          <a:xfrm>
            <a:off x="0" y="6807200"/>
            <a:ext cx="12192000" cy="508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Customer Segment 1: High-Value Loyal Customers (27.5%)</a:t>
            </a:r>
            <a:endParaRPr lang="en-US" sz="1100"/>
          </a:p>
        </p:txBody>
      </p:sp>
      <p:sp>
        <p:nvSpPr>
          <p:cNvPr id="5" name="AutoShape 5"/>
          <p:cNvSpPr/>
          <p:nvPr/>
        </p:nvSpPr>
        <p:spPr>
          <a:xfrm>
            <a:off x="762000" y="1524000"/>
            <a:ext cx="3302000" cy="3048000"/>
          </a:xfrm>
          <a:prstGeom prst="roundRect">
            <a:avLst>
              <a:gd name="adj" fmla="val 4166"/>
            </a:avLst>
          </a:prstGeom>
          <a:solidFill>
            <a:srgbClr val="FFFFFF">
              <a:alpha val="8000"/>
            </a:srgbClr>
          </a:solidFill>
          <a:ln w="12700" cap="flat" cmpd="sng">
            <a:solidFill>
              <a:srgbClr val="00A9E0">
                <a:alpha val="4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78000"/>
            <a:ext cx="406400" cy="406400"/>
          </a:xfrm>
          <a:prstGeom prst="rect">
            <a:avLst/>
          </a:prstGeom>
        </p:spPr>
      </p:pic>
      <p:sp>
        <p:nvSpPr>
          <p:cNvPr id="7" name="AutoShape 7"/>
          <p:cNvSpPr/>
          <p:nvPr/>
        </p:nvSpPr>
        <p:spPr>
          <a:xfrm>
            <a:off x="1524000" y="17780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Characteristics</a:t>
            </a:r>
            <a:endParaRPr lang="en-US" sz="1100"/>
          </a:p>
        </p:txBody>
      </p:sp>
      <p:sp>
        <p:nvSpPr>
          <p:cNvPr id="8" name="AutoShape 8"/>
          <p:cNvSpPr/>
          <p:nvPr/>
        </p:nvSpPr>
        <p:spPr>
          <a:xfrm>
            <a:off x="1016000" y="23495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F0F2F5"/>
                </a:solidFill>
                <a:latin typeface="Poppins"/>
                <a:ea typeface="Poppins"/>
                <a:cs typeface="Poppins"/>
                <a:sym typeface="Poppins"/>
              </a:rPr>
              <a:t>Low recency (recently purchased), high frequency (buy often), and high monetary value (spend a lot). They represent our most loyal user base.</a:t>
            </a:r>
            <a:endParaRPr lang="en-US" sz="1100"/>
          </a:p>
        </p:txBody>
      </p:sp>
      <p:sp>
        <p:nvSpPr>
          <p:cNvPr id="9" name="AutoShape 9"/>
          <p:cNvSpPr/>
          <p:nvPr/>
        </p:nvSpPr>
        <p:spPr>
          <a:xfrm>
            <a:off x="4445000" y="1524000"/>
            <a:ext cx="3302000" cy="3048000"/>
          </a:xfrm>
          <a:prstGeom prst="roundRect">
            <a:avLst>
              <a:gd name="adj" fmla="val 4166"/>
            </a:avLst>
          </a:prstGeom>
          <a:solidFill>
            <a:srgbClr val="FFFFFF">
              <a:alpha val="8000"/>
            </a:srgbClr>
          </a:solidFill>
          <a:ln w="12700" cap="flat" cmpd="sng">
            <a:solidFill>
              <a:srgbClr val="00A9E0">
                <a:alpha val="4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778000"/>
            <a:ext cx="406400" cy="406400"/>
          </a:xfrm>
          <a:prstGeom prst="rect">
            <a:avLst/>
          </a:prstGeom>
        </p:spPr>
      </p:pic>
      <p:sp>
        <p:nvSpPr>
          <p:cNvPr id="11" name="AutoShape 11"/>
          <p:cNvSpPr/>
          <p:nvPr/>
        </p:nvSpPr>
        <p:spPr>
          <a:xfrm>
            <a:off x="5207000" y="17780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Contribution</a:t>
            </a:r>
            <a:endParaRPr lang="en-US" sz="1100"/>
          </a:p>
        </p:txBody>
      </p:sp>
      <p:sp>
        <p:nvSpPr>
          <p:cNvPr id="12" name="AutoShape 12"/>
          <p:cNvSpPr/>
          <p:nvPr/>
        </p:nvSpPr>
        <p:spPr>
          <a:xfrm>
            <a:off x="4699000" y="23495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F0F2F5"/>
                </a:solidFill>
                <a:latin typeface="Poppins"/>
                <a:ea typeface="Poppins"/>
                <a:cs typeface="Poppins"/>
                <a:sym typeface="Poppins"/>
              </a:rPr>
              <a:t>Despite being only</a:t>
            </a:r>
            <a:r>
              <a:rPr lang="en-US" sz="1400" b="1" i="0" u="none" strike="noStrike">
                <a:solidFill>
                  <a:srgbClr val="00A9E0"/>
                </a:solidFill>
                <a:latin typeface="Poppins"/>
                <a:ea typeface="Poppins"/>
                <a:cs typeface="Poppins"/>
                <a:sym typeface="Poppins"/>
              </a:rPr>
              <a:t>27.5%</a:t>
            </a:r>
            <a:r>
              <a:rPr lang="en-US" sz="1400" b="0" i="0" u="none" strike="noStrike">
                <a:solidFill>
                  <a:srgbClr val="F0F2F5"/>
                </a:solidFill>
                <a:latin typeface="Poppins"/>
                <a:ea typeface="Poppins"/>
                <a:cs typeface="Poppins"/>
                <a:sym typeface="Poppins"/>
              </a:rPr>
              <a:t>of the total customer base, this segment drives a staggering</a:t>
            </a:r>
            <a:r>
              <a:rPr lang="en-US" sz="1400" b="1" i="0" u="none" strike="noStrike">
                <a:solidFill>
                  <a:srgbClr val="00A9E0"/>
                </a:solidFill>
                <a:latin typeface="Poppins"/>
                <a:ea typeface="Poppins"/>
                <a:cs typeface="Poppins"/>
                <a:sym typeface="Poppins"/>
              </a:rPr>
              <a:t>58.2%</a:t>
            </a:r>
            <a:r>
              <a:rPr lang="en-US" sz="1400" b="0" i="0" u="none" strike="noStrike">
                <a:solidFill>
                  <a:srgbClr val="F0F2F5"/>
                </a:solidFill>
                <a:latin typeface="Poppins"/>
                <a:ea typeface="Poppins"/>
                <a:cs typeface="Poppins"/>
                <a:sym typeface="Poppins"/>
              </a:rPr>
              <a:t>of the company's total revenue.</a:t>
            </a:r>
            <a:endParaRPr lang="en-US" sz="1100"/>
          </a:p>
        </p:txBody>
      </p:sp>
      <p:sp>
        <p:nvSpPr>
          <p:cNvPr id="13" name="AutoShape 13"/>
          <p:cNvSpPr/>
          <p:nvPr/>
        </p:nvSpPr>
        <p:spPr>
          <a:xfrm>
            <a:off x="8128000" y="1524000"/>
            <a:ext cx="3302000" cy="3048000"/>
          </a:xfrm>
          <a:prstGeom prst="roundRect">
            <a:avLst>
              <a:gd name="adj" fmla="val 4166"/>
            </a:avLst>
          </a:prstGeom>
          <a:solidFill>
            <a:srgbClr val="FFFFFF">
              <a:alpha val="8000"/>
            </a:srgbClr>
          </a:solidFill>
          <a:ln w="12700" cap="flat" cmpd="sng">
            <a:solidFill>
              <a:srgbClr val="00A9E0">
                <a:alpha val="4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778000"/>
            <a:ext cx="406400" cy="406400"/>
          </a:xfrm>
          <a:prstGeom prst="rect">
            <a:avLst/>
          </a:prstGeom>
        </p:spPr>
      </p:pic>
      <p:sp>
        <p:nvSpPr>
          <p:cNvPr id="15" name="AutoShape 15"/>
          <p:cNvSpPr/>
          <p:nvPr/>
        </p:nvSpPr>
        <p:spPr>
          <a:xfrm>
            <a:off x="8890000" y="17780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Strategy</a:t>
            </a:r>
            <a:endParaRPr lang="en-US" sz="1100"/>
          </a:p>
        </p:txBody>
      </p:sp>
      <p:sp>
        <p:nvSpPr>
          <p:cNvPr id="16" name="AutoShape 16"/>
          <p:cNvSpPr/>
          <p:nvPr/>
        </p:nvSpPr>
        <p:spPr>
          <a:xfrm>
            <a:off x="8382000" y="2349500"/>
            <a:ext cx="2794000" cy="177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F0F2F5"/>
                </a:solidFill>
                <a:latin typeface="Poppins"/>
                <a:ea typeface="Poppins"/>
                <a:cs typeface="Poppins"/>
                <a:sym typeface="Poppins"/>
              </a:rPr>
              <a:t>Prioritize retention and nurturing. Implement exclusive rewards programs, dedicated VIP support, and offer early access to new products/promotions.</a:t>
            </a:r>
            <a:endParaRPr lang="en-US" sz="1100"/>
          </a:p>
        </p:txBody>
      </p:sp>
      <p:sp>
        <p:nvSpPr>
          <p:cNvPr id="17" name="AutoShape 17"/>
          <p:cNvSpPr/>
          <p:nvPr/>
        </p:nvSpPr>
        <p:spPr>
          <a:xfrm>
            <a:off x="762000" y="5080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62000" y="5334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1" u="none" strike="noStrike">
                <a:solidFill>
                  <a:srgbClr val="FFFFFF">
                    <a:alpha val="80000"/>
                  </a:srgbClr>
                </a:solidFill>
                <a:latin typeface="Poppins"/>
                <a:ea typeface="Poppins"/>
                <a:cs typeface="Poppins"/>
                <a:sym typeface="Poppins"/>
              </a:rPr>
              <a:t>"This segment is the cornerstone of our revenue; protecting their loyalty is business-critical."</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Customer Segment 2: Mid-Value Active Customers (18.1%)</a:t>
            </a:r>
            <a:endParaRPr lang="en-US" sz="1100"/>
          </a:p>
        </p:txBody>
      </p:sp>
      <p:sp>
        <p:nvSpPr>
          <p:cNvPr id="5" name="AutoShape 5"/>
          <p:cNvSpPr/>
          <p:nvPr/>
        </p:nvSpPr>
        <p:spPr>
          <a:xfrm>
            <a:off x="762000" y="1524000"/>
            <a:ext cx="5080000" cy="3048000"/>
          </a:xfrm>
          <a:prstGeom prst="roundRect">
            <a:avLst>
              <a:gd name="adj" fmla="val 4166"/>
            </a:avLst>
          </a:prstGeom>
          <a:solidFill>
            <a:srgbClr val="FFFFFF">
              <a:alpha val="8000"/>
            </a:srgbClr>
          </a:solidFill>
          <a:ln w="12700" cap="flat" cmpd="sng">
            <a:solidFill>
              <a:srgbClr val="00A9E0">
                <a:alpha val="100000"/>
              </a:srgbClr>
            </a:solid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14500"/>
            <a:ext cx="406400" cy="406400"/>
          </a:xfrm>
          <a:prstGeom prst="rect">
            <a:avLst/>
          </a:prstGeom>
        </p:spPr>
      </p:pic>
      <p:sp>
        <p:nvSpPr>
          <p:cNvPr id="7" name="AutoShape 7"/>
          <p:cNvSpPr/>
          <p:nvPr/>
        </p:nvSpPr>
        <p:spPr>
          <a:xfrm>
            <a:off x="1524000" y="1676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Characteristics</a:t>
            </a:r>
            <a:endParaRPr lang="en-US" sz="1100"/>
          </a:p>
        </p:txBody>
      </p:sp>
      <p:sp>
        <p:nvSpPr>
          <p:cNvPr id="8" name="AutoShape 8"/>
          <p:cNvSpPr/>
          <p:nvPr/>
        </p:nvSpPr>
        <p:spPr>
          <a:xfrm>
            <a:off x="1016000" y="2159000"/>
            <a:ext cx="4572000" cy="215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F0F2F5"/>
                </a:solidFill>
                <a:latin typeface="Poppins"/>
                <a:ea typeface="Poppins"/>
                <a:cs typeface="Poppins"/>
                <a:sym typeface="Poppins"/>
              </a:rPr>
              <a:t>These customers exhibit stable purchasing behavior with moderate frequency and monetary value. They are active but not in the top tier.</a:t>
            </a:r>
            <a:endParaRPr lang="en-US" sz="1100"/>
          </a:p>
        </p:txBody>
      </p:sp>
      <p:sp>
        <p:nvSpPr>
          <p:cNvPr id="9" name="AutoShape 9"/>
          <p:cNvSpPr/>
          <p:nvPr/>
        </p:nvSpPr>
        <p:spPr>
          <a:xfrm>
            <a:off x="6350000" y="1524000"/>
            <a:ext cx="5080000" cy="3048000"/>
          </a:xfrm>
          <a:prstGeom prst="roundRect">
            <a:avLst>
              <a:gd name="adj" fmla="val 4166"/>
            </a:avLst>
          </a:prstGeom>
          <a:solidFill>
            <a:srgbClr val="FFFFFF">
              <a:alpha val="8000"/>
            </a:srgbClr>
          </a:solidFill>
          <a:ln w="12700" cap="flat" cmpd="sng">
            <a:solidFill>
              <a:srgbClr val="00A9E0">
                <a:alpha val="100000"/>
              </a:srgbClr>
            </a:solid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714500"/>
            <a:ext cx="406400" cy="406400"/>
          </a:xfrm>
          <a:prstGeom prst="rect">
            <a:avLst/>
          </a:prstGeom>
        </p:spPr>
      </p:pic>
      <p:sp>
        <p:nvSpPr>
          <p:cNvPr id="11" name="AutoShape 11"/>
          <p:cNvSpPr/>
          <p:nvPr/>
        </p:nvSpPr>
        <p:spPr>
          <a:xfrm>
            <a:off x="7112000" y="1676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Strategy</a:t>
            </a:r>
            <a:endParaRPr lang="en-US" sz="1100"/>
          </a:p>
        </p:txBody>
      </p:sp>
      <p:sp>
        <p:nvSpPr>
          <p:cNvPr id="12" name="AutoShape 12"/>
          <p:cNvSpPr/>
          <p:nvPr/>
        </p:nvSpPr>
        <p:spPr>
          <a:xfrm>
            <a:off x="6604000" y="2159000"/>
            <a:ext cx="4572000" cy="215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F0F2F5"/>
                </a:solidFill>
                <a:latin typeface="Poppins"/>
                <a:ea typeface="Poppins"/>
                <a:cs typeface="Poppins"/>
                <a:sym typeface="Poppins"/>
              </a:rPr>
              <a:t>This segment presents excellent opportunities for cross-selling and upselling. By analyzing their purchase history, we can recommend complementary products or premium alternatives to increase their average order value and move them into the high-value segment.</a:t>
            </a:r>
            <a:endParaRPr lang="en-US" sz="1100"/>
          </a:p>
        </p:txBody>
      </p:sp>
      <p:sp>
        <p:nvSpPr>
          <p:cNvPr id="13" name="AutoShape 13"/>
          <p:cNvSpPr/>
          <p:nvPr/>
        </p:nvSpPr>
        <p:spPr>
          <a:xfrm>
            <a:off x="0" y="6350000"/>
            <a:ext cx="12192000" cy="508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Poppins"/>
                <a:ea typeface="Poppins"/>
                <a:cs typeface="Poppins"/>
                <a:sym typeface="Poppins"/>
              </a:rPr>
              <a:t>Customer Segment 3: Low-Value Inactive Customers (42.1%)</a:t>
            </a:r>
            <a:endParaRPr lang="en-US" sz="1100"/>
          </a:p>
        </p:txBody>
      </p:sp>
      <p:sp>
        <p:nvSpPr>
          <p:cNvPr id="5" name="AutoShape 5"/>
          <p:cNvSpPr/>
          <p:nvPr/>
        </p:nvSpPr>
        <p:spPr>
          <a:xfrm>
            <a:off x="762000" y="1778000"/>
            <a:ext cx="5143500" cy="3302000"/>
          </a:xfrm>
          <a:prstGeom prst="roundRect">
            <a:avLst>
              <a:gd name="adj" fmla="val 384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406400" cy="406400"/>
          </a:xfrm>
          <a:prstGeom prst="rect">
            <a:avLst/>
          </a:prstGeom>
        </p:spPr>
      </p:pic>
      <p:sp>
        <p:nvSpPr>
          <p:cNvPr id="7" name="AutoShape 7"/>
          <p:cNvSpPr/>
          <p:nvPr/>
        </p:nvSpPr>
        <p:spPr>
          <a:xfrm>
            <a:off x="1524000" y="2006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Key Characteristics</a:t>
            </a:r>
            <a:endParaRPr lang="en-US" sz="1100"/>
          </a:p>
        </p:txBody>
      </p:sp>
      <p:sp>
        <p:nvSpPr>
          <p:cNvPr id="8" name="AutoShape 8"/>
          <p:cNvSpPr/>
          <p:nvPr/>
        </p:nvSpPr>
        <p:spPr>
          <a:xfrm>
            <a:off x="1016000" y="2540000"/>
            <a:ext cx="4635500" cy="228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0" i="0" u="none" strike="noStrike">
                <a:solidFill>
                  <a:srgbClr val="E2E8F0"/>
                </a:solidFill>
                <a:latin typeface="Poppins"/>
                <a:ea typeface="Poppins"/>
                <a:cs typeface="Poppins"/>
                <a:sym typeface="Poppins"/>
              </a:rPr>
              <a:t>This is the largest segment (42.1%), consisting of customers who spend little, purchase infrequently, and have not bought anything recently (high recency). They are essentially inactive.</a:t>
            </a:r>
            <a:endParaRPr lang="en-US" sz="1100"/>
          </a:p>
        </p:txBody>
      </p:sp>
      <p:sp>
        <p:nvSpPr>
          <p:cNvPr id="9" name="AutoShape 9"/>
          <p:cNvSpPr/>
          <p:nvPr/>
        </p:nvSpPr>
        <p:spPr>
          <a:xfrm>
            <a:off x="6286500" y="1778000"/>
            <a:ext cx="5143500" cy="3302000"/>
          </a:xfrm>
          <a:prstGeom prst="roundRect">
            <a:avLst>
              <a:gd name="adj" fmla="val 384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2032000"/>
            <a:ext cx="406400" cy="406400"/>
          </a:xfrm>
          <a:prstGeom prst="rect">
            <a:avLst/>
          </a:prstGeom>
        </p:spPr>
      </p:pic>
      <p:sp>
        <p:nvSpPr>
          <p:cNvPr id="11" name="AutoShape 11"/>
          <p:cNvSpPr/>
          <p:nvPr/>
        </p:nvSpPr>
        <p:spPr>
          <a:xfrm>
            <a:off x="7048500" y="2006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Engagement Strategy</a:t>
            </a:r>
            <a:endParaRPr lang="en-US" sz="1100"/>
          </a:p>
        </p:txBody>
      </p:sp>
      <p:sp>
        <p:nvSpPr>
          <p:cNvPr id="12" name="AutoShape 12"/>
          <p:cNvSpPr/>
          <p:nvPr/>
        </p:nvSpPr>
        <p:spPr>
          <a:xfrm>
            <a:off x="6540500" y="2540000"/>
            <a:ext cx="4635500" cy="228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500" b="0" i="0" u="none" strike="noStrike">
                <a:solidFill>
                  <a:srgbClr val="E2E8F0"/>
                </a:solidFill>
                <a:latin typeface="Poppins"/>
                <a:ea typeface="Poppins"/>
                <a:cs typeface="Poppins"/>
                <a:sym typeface="Poppins"/>
              </a:rPr>
              <a:t>Re-engaging this large group requires low-cost, high-volume campaigns. Targeted discount offers, personalized re-engagement emails, or limited-time promotions can be effective in reactivating some of these customers without incurring high costs.</a:t>
            </a:r>
            <a:endParaRPr lang="en-US" sz="1100"/>
          </a:p>
        </p:txBody>
      </p:sp>
      <p:sp>
        <p:nvSpPr>
          <p:cNvPr id="13" name="AutoShape 13"/>
          <p:cNvSpPr/>
          <p:nvPr/>
        </p:nvSpPr>
        <p:spPr>
          <a:xfrm>
            <a:off x="762000" y="5461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62000" y="56515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70196"/>
                  </a:srgbClr>
                </a:solidFill>
                <a:latin typeface="Poppins"/>
                <a:ea typeface="Poppins"/>
                <a:cs typeface="Poppins"/>
                <a:sym typeface="Poppins"/>
              </a:rPr>
              <a:t>Focus on cost efficiency and high volume to reactivate the largest segment.</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Customer Segment 4: High-Risk Churn Customers (12.3%)</a:t>
            </a:r>
            <a:endParaRPr lang="en-US" sz="1100"/>
          </a:p>
        </p:txBody>
      </p:sp>
      <p:sp>
        <p:nvSpPr>
          <p:cNvPr id="5" name="AutoShape 5"/>
          <p:cNvSpPr/>
          <p:nvPr/>
        </p:nvSpPr>
        <p:spPr>
          <a:xfrm>
            <a:off x="762000" y="1651000"/>
            <a:ext cx="5143500" cy="3302000"/>
          </a:xfrm>
          <a:prstGeom prst="roundRect">
            <a:avLst>
              <a:gd name="adj" fmla="val 384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406400" cy="406400"/>
          </a:xfrm>
          <a:prstGeom prst="rect">
            <a:avLst/>
          </a:prstGeom>
        </p:spPr>
      </p:pic>
      <p:sp>
        <p:nvSpPr>
          <p:cNvPr id="7" name="AutoShape 7"/>
          <p:cNvSpPr/>
          <p:nvPr/>
        </p:nvSpPr>
        <p:spPr>
          <a:xfrm>
            <a:off x="1524000" y="1879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Characteristics</a:t>
            </a:r>
            <a:endParaRPr lang="en-US" sz="1100"/>
          </a:p>
        </p:txBody>
      </p:sp>
      <p:sp>
        <p:nvSpPr>
          <p:cNvPr id="8" name="AutoShape 8"/>
          <p:cNvSpPr/>
          <p:nvPr/>
        </p:nvSpPr>
        <p:spPr>
          <a:xfrm>
            <a:off x="1016000" y="2413000"/>
            <a:ext cx="4635500" cy="203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F0F2F5"/>
                </a:solidFill>
                <a:latin typeface="Poppins"/>
                <a:ea typeface="Poppins"/>
                <a:cs typeface="Poppins"/>
                <a:sym typeface="Poppins"/>
              </a:rPr>
              <a:t>These customers show signs of disengagement:</a:t>
            </a:r>
            <a:endParaRPr lang="en-US" sz="1100"/>
          </a:p>
          <a:p>
            <a:pPr marL="190500" indent="-190500" algn="l">
              <a:lnSpc>
                <a:spcPct val="117000"/>
              </a:lnSpc>
              <a:buClr>
                <a:srgbClr val="F0F2F5"/>
              </a:buClr>
              <a:buChar char="•"/>
            </a:pPr>
            <a:r>
              <a:rPr lang="en-US" sz="1500" b="0" i="0" u="none" strike="noStrike">
                <a:solidFill>
                  <a:srgbClr val="F0F2F5"/>
                </a:solidFill>
                <a:latin typeface="Poppins"/>
                <a:ea typeface="Poppins"/>
                <a:cs typeface="Poppins"/>
                <a:sym typeface="Poppins"/>
              </a:rPr>
              <a:t>Haven't purchased recently (high recency)</a:t>
            </a:r>
            <a:endParaRPr lang="en-US" sz="1500" b="0" i="0" u="none" strike="noStrike">
              <a:solidFill>
                <a:srgbClr val="F0F2F5"/>
              </a:solidFill>
              <a:latin typeface="Poppins"/>
              <a:ea typeface="Poppins"/>
              <a:cs typeface="Poppins"/>
              <a:sym typeface="Poppins"/>
            </a:endParaRPr>
          </a:p>
          <a:p>
            <a:pPr marL="190500" indent="-190500" algn="l">
              <a:lnSpc>
                <a:spcPct val="117000"/>
              </a:lnSpc>
              <a:buClr>
                <a:srgbClr val="F0F2F5"/>
              </a:buClr>
              <a:buChar char="•"/>
            </a:pPr>
            <a:r>
              <a:rPr lang="en-US" sz="1500" b="0" i="0" u="none" strike="noStrike">
                <a:solidFill>
                  <a:srgbClr val="F0F2F5"/>
                </a:solidFill>
                <a:latin typeface="Poppins"/>
                <a:ea typeface="Poppins"/>
                <a:cs typeface="Poppins"/>
                <a:sym typeface="Poppins"/>
              </a:rPr>
              <a:t>Declining spending or purchase frequency</a:t>
            </a:r>
            <a:endParaRPr lang="en-US" sz="1500" b="0" i="0" u="none" strike="noStrike">
              <a:solidFill>
                <a:srgbClr val="F0F2F5"/>
              </a:solidFill>
              <a:latin typeface="Poppins"/>
              <a:ea typeface="Poppins"/>
              <a:cs typeface="Poppins"/>
              <a:sym typeface="Poppins"/>
            </a:endParaRPr>
          </a:p>
          <a:p>
            <a:pPr marL="190500" indent="-190500" algn="l">
              <a:lnSpc>
                <a:spcPct val="117000"/>
              </a:lnSpc>
              <a:buClr>
                <a:srgbClr val="F0F2F5"/>
              </a:buClr>
              <a:buChar char="•"/>
            </a:pPr>
            <a:r>
              <a:rPr lang="en-US" sz="1500" b="0" i="0" u="none" strike="noStrike">
                <a:solidFill>
                  <a:srgbClr val="F0F2F5"/>
                </a:solidFill>
                <a:latin typeface="Poppins"/>
                <a:ea typeface="Poppins"/>
                <a:cs typeface="Poppins"/>
                <a:sym typeface="Poppins"/>
              </a:rPr>
              <a:t>At a critical stage with high churn risk</a:t>
            </a:r>
            <a:endParaRPr lang="en-US" sz="1500" b="0" i="0" u="none" strike="noStrike">
              <a:solidFill>
                <a:srgbClr val="F0F2F5"/>
              </a:solidFill>
              <a:latin typeface="Poppins"/>
              <a:ea typeface="Poppins"/>
              <a:cs typeface="Poppins"/>
              <a:sym typeface="Poppins"/>
            </a:endParaRPr>
          </a:p>
        </p:txBody>
      </p:sp>
      <p:sp>
        <p:nvSpPr>
          <p:cNvPr id="9" name="AutoShape 9"/>
          <p:cNvSpPr/>
          <p:nvPr/>
        </p:nvSpPr>
        <p:spPr>
          <a:xfrm>
            <a:off x="6286500" y="1651000"/>
            <a:ext cx="5143500" cy="3302000"/>
          </a:xfrm>
          <a:prstGeom prst="roundRect">
            <a:avLst>
              <a:gd name="adj" fmla="val 384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905000"/>
            <a:ext cx="406400" cy="406400"/>
          </a:xfrm>
          <a:prstGeom prst="rect">
            <a:avLst/>
          </a:prstGeom>
        </p:spPr>
      </p:pic>
      <p:sp>
        <p:nvSpPr>
          <p:cNvPr id="11" name="AutoShape 11"/>
          <p:cNvSpPr/>
          <p:nvPr/>
        </p:nvSpPr>
        <p:spPr>
          <a:xfrm>
            <a:off x="7048500" y="1879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Retention Strategy</a:t>
            </a:r>
            <a:endParaRPr lang="en-US" sz="1100"/>
          </a:p>
        </p:txBody>
      </p:sp>
      <p:sp>
        <p:nvSpPr>
          <p:cNvPr id="12" name="AutoShape 12"/>
          <p:cNvSpPr/>
          <p:nvPr/>
        </p:nvSpPr>
        <p:spPr>
          <a:xfrm>
            <a:off x="6540500" y="2413000"/>
            <a:ext cx="4635500" cy="203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0" i="0" u="none" strike="noStrike">
                <a:solidFill>
                  <a:srgbClr val="F0F2F5"/>
                </a:solidFill>
                <a:latin typeface="Poppins"/>
                <a:ea typeface="Poppins"/>
                <a:cs typeface="Poppins"/>
                <a:sym typeface="Poppins"/>
              </a:rPr>
              <a:t>Immediate and proactive efforts are crucial to prevent churn:</a:t>
            </a:r>
            <a:endParaRPr lang="en-US" sz="1100"/>
          </a:p>
          <a:p>
            <a:pPr marL="190500" indent="-190500" algn="l">
              <a:lnSpc>
                <a:spcPct val="117000"/>
              </a:lnSpc>
              <a:buClr>
                <a:srgbClr val="F0F2F5"/>
              </a:buClr>
              <a:buChar char="•"/>
            </a:pPr>
            <a:r>
              <a:rPr lang="en-US" sz="1500" b="0" i="0" u="none" strike="noStrike">
                <a:solidFill>
                  <a:srgbClr val="F0F2F5"/>
                </a:solidFill>
                <a:latin typeface="Poppins"/>
                <a:ea typeface="Poppins"/>
                <a:cs typeface="Poppins"/>
                <a:sym typeface="Poppins"/>
              </a:rPr>
              <a:t>Deploy personalized outreach campaigns</a:t>
            </a:r>
            <a:endParaRPr lang="en-US" sz="1500" b="0" i="0" u="none" strike="noStrike">
              <a:solidFill>
                <a:srgbClr val="F0F2F5"/>
              </a:solidFill>
              <a:latin typeface="Poppins"/>
              <a:ea typeface="Poppins"/>
              <a:cs typeface="Poppins"/>
              <a:sym typeface="Poppins"/>
            </a:endParaRPr>
          </a:p>
          <a:p>
            <a:pPr marL="190500" indent="-190500" algn="l">
              <a:lnSpc>
                <a:spcPct val="117000"/>
              </a:lnSpc>
              <a:buClr>
                <a:srgbClr val="F0F2F5"/>
              </a:buClr>
              <a:buChar char="•"/>
            </a:pPr>
            <a:r>
              <a:rPr lang="en-US" sz="1500" b="0" i="0" u="none" strike="noStrike">
                <a:solidFill>
                  <a:srgbClr val="F0F2F5"/>
                </a:solidFill>
                <a:latin typeface="Poppins"/>
                <a:ea typeface="Poppins"/>
                <a:cs typeface="Poppins"/>
                <a:sym typeface="Poppins"/>
              </a:rPr>
              <a:t>Offer targeted retention incentives/offers</a:t>
            </a:r>
            <a:endParaRPr lang="en-US" sz="1500" b="0" i="0" u="none" strike="noStrike">
              <a:solidFill>
                <a:srgbClr val="F0F2F5"/>
              </a:solidFill>
              <a:latin typeface="Poppins"/>
              <a:ea typeface="Poppins"/>
              <a:cs typeface="Poppins"/>
              <a:sym typeface="Poppins"/>
            </a:endParaRPr>
          </a:p>
          <a:p>
            <a:pPr marL="190500" indent="-190500" algn="l">
              <a:lnSpc>
                <a:spcPct val="117000"/>
              </a:lnSpc>
              <a:buClr>
                <a:srgbClr val="F0F2F5"/>
              </a:buClr>
              <a:buChar char="•"/>
            </a:pPr>
            <a:r>
              <a:rPr lang="en-US" sz="1500" b="0" i="0" u="none" strike="noStrike">
                <a:solidFill>
                  <a:srgbClr val="F0F2F5"/>
                </a:solidFill>
                <a:latin typeface="Poppins"/>
                <a:ea typeface="Poppins"/>
                <a:cs typeface="Poppins"/>
                <a:sym typeface="Poppins"/>
              </a:rPr>
              <a:t>Conduct feedback surveys to address pain points</a:t>
            </a:r>
            <a:endParaRPr lang="en-US" sz="1500" b="0" i="0" u="none" strike="noStrike">
              <a:solidFill>
                <a:srgbClr val="F0F2F5"/>
              </a:solidFill>
              <a:latin typeface="Poppins"/>
              <a:ea typeface="Poppins"/>
              <a:cs typeface="Poppins"/>
              <a:sym typeface="Poppins"/>
            </a:endParaRPr>
          </a:p>
        </p:txBody>
      </p:sp>
      <p:sp>
        <p:nvSpPr>
          <p:cNvPr id="13" name="AutoShape 13"/>
          <p:cNvSpPr/>
          <p:nvPr/>
        </p:nvSpPr>
        <p:spPr>
          <a:xfrm>
            <a:off x="762000" y="5334000"/>
            <a:ext cx="10668000" cy="762000"/>
          </a:xfrm>
          <a:prstGeom prst="roundRect">
            <a:avLst>
              <a:gd name="adj" fmla="val 16666"/>
            </a:avLst>
          </a:prstGeom>
          <a:solidFill>
            <a:srgbClr val="00A9E0">
              <a:alpha val="15000"/>
            </a:srgbClr>
          </a:solidFill>
          <a:ln w="12700" cap="flat" cmpd="sng">
            <a:solidFill>
              <a:srgbClr val="00A9E0">
                <a:alpha val="5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562600"/>
            <a:ext cx="304800" cy="304800"/>
          </a:xfrm>
          <a:prstGeom prst="rect">
            <a:avLst/>
          </a:prstGeom>
        </p:spPr>
      </p:pic>
      <p:sp>
        <p:nvSpPr>
          <p:cNvPr id="15" name="AutoShape 15"/>
          <p:cNvSpPr/>
          <p:nvPr/>
        </p:nvSpPr>
        <p:spPr>
          <a:xfrm>
            <a:off x="1397000" y="54864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Key Insight:</a:t>
            </a:r>
            <a:r>
              <a:rPr lang="en-US" sz="1600" b="0" i="0" u="none" strike="noStrike">
                <a:solidFill>
                  <a:srgbClr val="F0F2F5"/>
                </a:solidFill>
                <a:latin typeface="Poppins"/>
                <a:ea typeface="Poppins"/>
                <a:cs typeface="Poppins"/>
                <a:sym typeface="Poppins"/>
              </a:rPr>
              <a:t>Intervention at this stage is cost-effective compared to acquiring new customers. Focus on resolving their issues to win them back.</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FFFFFF"/>
                </a:solidFill>
                <a:latin typeface="Poppins"/>
                <a:ea typeface="Poppins"/>
                <a:cs typeface="Poppins"/>
                <a:sym typeface="Poppins"/>
              </a:rPr>
              <a:t>PART 3: Churn Prediction &amp; Strategic Recommendations</a:t>
            </a:r>
            <a:endParaRPr lang="en-US" sz="1100"/>
          </a:p>
        </p:txBody>
      </p:sp>
      <p:sp>
        <p:nvSpPr>
          <p:cNvPr id="5" name="AutoShape 5"/>
          <p:cNvSpPr/>
          <p:nvPr/>
        </p:nvSpPr>
        <p:spPr>
          <a:xfrm>
            <a:off x="762000" y="1651000"/>
            <a:ext cx="3302000" cy="3048000"/>
          </a:xfrm>
          <a:prstGeom prst="roundRect">
            <a:avLst>
              <a:gd name="adj" fmla="val 416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508000" cy="508000"/>
          </a:xfrm>
          <a:prstGeom prst="rect">
            <a:avLst/>
          </a:prstGeom>
        </p:spPr>
      </p:pic>
      <p:sp>
        <p:nvSpPr>
          <p:cNvPr id="7" name="AutoShape 7"/>
          <p:cNvSpPr/>
          <p:nvPr/>
        </p:nvSpPr>
        <p:spPr>
          <a:xfrm>
            <a:off x="1016000" y="2540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Model Selection</a:t>
            </a:r>
            <a:endParaRPr lang="en-US" sz="1100"/>
          </a:p>
        </p:txBody>
      </p:sp>
      <p:sp>
        <p:nvSpPr>
          <p:cNvPr id="8" name="AutoShape 8"/>
          <p:cNvSpPr/>
          <p:nvPr/>
        </p:nvSpPr>
        <p:spPr>
          <a:xfrm>
            <a:off x="1016000" y="3048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We chose the Random Forest classifier for its robustness, ability to handle non-linear relationships, and resistance to overfitting.</a:t>
            </a:r>
            <a:endParaRPr lang="en-US" sz="1100"/>
          </a:p>
        </p:txBody>
      </p:sp>
      <p:sp>
        <p:nvSpPr>
          <p:cNvPr id="9" name="AutoShape 9"/>
          <p:cNvSpPr/>
          <p:nvPr/>
        </p:nvSpPr>
        <p:spPr>
          <a:xfrm>
            <a:off x="4445000" y="1651000"/>
            <a:ext cx="3302000" cy="3048000"/>
          </a:xfrm>
          <a:prstGeom prst="roundRect">
            <a:avLst>
              <a:gd name="adj" fmla="val 416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05000"/>
            <a:ext cx="508000" cy="508000"/>
          </a:xfrm>
          <a:prstGeom prst="rect">
            <a:avLst/>
          </a:prstGeom>
        </p:spPr>
      </p:pic>
      <p:sp>
        <p:nvSpPr>
          <p:cNvPr id="11" name="AutoShape 11"/>
          <p:cNvSpPr/>
          <p:nvPr/>
        </p:nvSpPr>
        <p:spPr>
          <a:xfrm>
            <a:off x="4699000" y="2540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Feature Selection</a:t>
            </a:r>
            <a:endParaRPr lang="en-US" sz="1100"/>
          </a:p>
        </p:txBody>
      </p:sp>
      <p:sp>
        <p:nvSpPr>
          <p:cNvPr id="12" name="AutoShape 12"/>
          <p:cNvSpPr/>
          <p:nvPr/>
        </p:nvSpPr>
        <p:spPr>
          <a:xfrm>
            <a:off x="4699000" y="3048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Key features included RFM metrics (Recency, Frequency, Monetary) and derived features such as average order value and purchase interval.</a:t>
            </a:r>
            <a:endParaRPr lang="en-US" sz="1100"/>
          </a:p>
        </p:txBody>
      </p:sp>
      <p:sp>
        <p:nvSpPr>
          <p:cNvPr id="13" name="AutoShape 13"/>
          <p:cNvSpPr/>
          <p:nvPr/>
        </p:nvSpPr>
        <p:spPr>
          <a:xfrm>
            <a:off x="8128000" y="1651000"/>
            <a:ext cx="3302000" cy="3048000"/>
          </a:xfrm>
          <a:prstGeom prst="roundRect">
            <a:avLst>
              <a:gd name="adj" fmla="val 4166"/>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905000"/>
            <a:ext cx="508000" cy="508000"/>
          </a:xfrm>
          <a:prstGeom prst="rect">
            <a:avLst/>
          </a:prstGeom>
        </p:spPr>
      </p:pic>
      <p:sp>
        <p:nvSpPr>
          <p:cNvPr id="15" name="AutoShape 15"/>
          <p:cNvSpPr/>
          <p:nvPr/>
        </p:nvSpPr>
        <p:spPr>
          <a:xfrm>
            <a:off x="8382000" y="2540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Train-Test Split</a:t>
            </a:r>
            <a:endParaRPr lang="en-US" sz="1100"/>
          </a:p>
        </p:txBody>
      </p:sp>
      <p:sp>
        <p:nvSpPr>
          <p:cNvPr id="16" name="AutoShape 16"/>
          <p:cNvSpPr/>
          <p:nvPr/>
        </p:nvSpPr>
        <p:spPr>
          <a:xfrm>
            <a:off x="8382000" y="3048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The dataset was strategically split into 80% for training the model and 20% for testing its performance and generalization ability.</a:t>
            </a:r>
            <a:endParaRPr lang="en-US" sz="1100"/>
          </a:p>
        </p:txBody>
      </p:sp>
      <p:sp>
        <p:nvSpPr>
          <p:cNvPr id="17" name="AutoShape 17"/>
          <p:cNvSpPr/>
          <p:nvPr/>
        </p:nvSpPr>
        <p:spPr>
          <a:xfrm>
            <a:off x="762000" y="5334000"/>
            <a:ext cx="10668000" cy="25400"/>
          </a:xfrm>
          <a:prstGeom prst="roundRect">
            <a:avLst>
              <a:gd name="adj" fmla="val 0"/>
            </a:avLst>
          </a:prstGeom>
          <a:solidFill>
            <a:srgbClr val="00A9E0">
              <a:alpha val="5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62000" y="5524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Poppins"/>
                <a:ea typeface="Poppins"/>
                <a:cs typeface="Poppins"/>
                <a:sym typeface="Poppins"/>
              </a:rPr>
              <a:t>Data-Driven Decision Making for Customer Retention</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6286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Model Evaluation &amp; Results</a:t>
            </a:r>
            <a:endParaRPr lang="en-US" sz="1100"/>
          </a:p>
        </p:txBody>
      </p:sp>
      <p:sp>
        <p:nvSpPr>
          <p:cNvPr id="5" name="AutoShape 5"/>
          <p:cNvSpPr/>
          <p:nvPr/>
        </p:nvSpPr>
        <p:spPr>
          <a:xfrm>
            <a:off x="762000" y="1397000"/>
            <a:ext cx="5080000" cy="1651000"/>
          </a:xfrm>
          <a:prstGeom prst="roundRect">
            <a:avLst>
              <a:gd name="adj" fmla="val 7692"/>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587500"/>
            <a:ext cx="406400" cy="406400"/>
          </a:xfrm>
          <a:prstGeom prst="rect">
            <a:avLst/>
          </a:prstGeom>
        </p:spPr>
      </p:pic>
      <p:sp>
        <p:nvSpPr>
          <p:cNvPr id="7" name="AutoShape 7"/>
          <p:cNvSpPr/>
          <p:nvPr/>
        </p:nvSpPr>
        <p:spPr>
          <a:xfrm>
            <a:off x="15240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Performance Metrics</a:t>
            </a:r>
            <a:endParaRPr lang="en-US" sz="1100"/>
          </a:p>
        </p:txBody>
      </p:sp>
      <p:sp>
        <p:nvSpPr>
          <p:cNvPr id="8" name="AutoShape 8"/>
          <p:cNvSpPr/>
          <p:nvPr/>
        </p:nvSpPr>
        <p:spPr>
          <a:xfrm>
            <a:off x="1016000" y="19685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The model achieved a high accuracy of</a:t>
            </a:r>
            <a:r>
              <a:rPr lang="en-US" sz="1400" b="1" i="0" u="none" strike="noStrike">
                <a:solidFill>
                  <a:srgbClr val="00A9E0"/>
                </a:solidFill>
                <a:latin typeface="Poppins"/>
                <a:ea typeface="Poppins"/>
                <a:cs typeface="Poppins"/>
                <a:sym typeface="Poppins"/>
              </a:rPr>
              <a:t>85%</a:t>
            </a:r>
            <a:r>
              <a:rPr lang="en-US" sz="1400" b="0" i="0" u="none" strike="noStrike">
                <a:solidFill>
                  <a:srgbClr val="F0F2F5"/>
                </a:solidFill>
                <a:latin typeface="Poppins"/>
                <a:ea typeface="Poppins"/>
                <a:cs typeface="Poppins"/>
                <a:sym typeface="Poppins"/>
              </a:rPr>
              <a:t>. It also demonstrated strong precision, recall, and F1-score, validating its robustness in predicting customer churn.</a:t>
            </a:r>
            <a:endParaRPr lang="en-US" sz="1100"/>
          </a:p>
        </p:txBody>
      </p:sp>
      <p:sp>
        <p:nvSpPr>
          <p:cNvPr id="9" name="AutoShape 9"/>
          <p:cNvSpPr/>
          <p:nvPr/>
        </p:nvSpPr>
        <p:spPr>
          <a:xfrm>
            <a:off x="762000" y="3302000"/>
            <a:ext cx="5080000" cy="1651000"/>
          </a:xfrm>
          <a:prstGeom prst="roundRect">
            <a:avLst>
              <a:gd name="adj" fmla="val 7692"/>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492500"/>
            <a:ext cx="406400" cy="406400"/>
          </a:xfrm>
          <a:prstGeom prst="rect">
            <a:avLst/>
          </a:prstGeom>
        </p:spPr>
      </p:pic>
      <p:sp>
        <p:nvSpPr>
          <p:cNvPr id="11" name="AutoShape 11"/>
          <p:cNvSpPr/>
          <p:nvPr/>
        </p:nvSpPr>
        <p:spPr>
          <a:xfrm>
            <a:off x="1524000" y="3454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Key Business Insight</a:t>
            </a:r>
            <a:endParaRPr lang="en-US" sz="1100"/>
          </a:p>
        </p:txBody>
      </p:sp>
      <p:sp>
        <p:nvSpPr>
          <p:cNvPr id="12" name="AutoShape 12"/>
          <p:cNvSpPr/>
          <p:nvPr/>
        </p:nvSpPr>
        <p:spPr>
          <a:xfrm>
            <a:off x="1016000" y="38735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The model successfully identifies a significant portion of at-risk customers. This enables the business to deploy</a:t>
            </a:r>
            <a:r>
              <a:rPr lang="en-US" sz="1400" b="1" i="0" u="none" strike="noStrike">
                <a:solidFill>
                  <a:srgbClr val="00A9E0"/>
                </a:solidFill>
                <a:latin typeface="Poppins"/>
                <a:ea typeface="Poppins"/>
                <a:cs typeface="Poppins"/>
                <a:sym typeface="Poppins"/>
              </a:rPr>
              <a:t>proactive retention strategies</a:t>
            </a:r>
            <a:r>
              <a:rPr lang="en-US" sz="1400" b="0" i="0" u="none" strike="noStrike">
                <a:solidFill>
                  <a:srgbClr val="F0F2F5"/>
                </a:solidFill>
                <a:latin typeface="Poppins"/>
                <a:ea typeface="Poppins"/>
                <a:cs typeface="Poppins"/>
                <a:sym typeface="Poppins"/>
              </a:rPr>
              <a:t>before churn occurs.</a:t>
            </a:r>
            <a:endParaRPr lang="en-US" sz="1100"/>
          </a:p>
        </p:txBody>
      </p:sp>
      <p:sp>
        <p:nvSpPr>
          <p:cNvPr id="13" name="AutoShape 13"/>
          <p:cNvSpPr/>
          <p:nvPr/>
        </p:nvSpPr>
        <p:spPr>
          <a:xfrm>
            <a:off x="6350000" y="1397000"/>
            <a:ext cx="5080000" cy="3556000"/>
          </a:xfrm>
          <a:prstGeom prst="roundRect">
            <a:avLst>
              <a:gd name="adj" fmla="val 3571"/>
            </a:avLst>
          </a:prstGeom>
          <a:solidFill>
            <a:srgbClr val="FFFFFF">
              <a:alpha val="8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587500"/>
            <a:ext cx="406400" cy="406400"/>
          </a:xfrm>
          <a:prstGeom prst="rect">
            <a:avLst/>
          </a:prstGeom>
        </p:spPr>
      </p:pic>
      <p:sp>
        <p:nvSpPr>
          <p:cNvPr id="15" name="AutoShape 15"/>
          <p:cNvSpPr/>
          <p:nvPr/>
        </p:nvSpPr>
        <p:spPr>
          <a:xfrm>
            <a:off x="71120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Confusion Matrix Analysis</a:t>
            </a:r>
            <a:endParaRPr lang="en-US" sz="1100"/>
          </a:p>
        </p:txBody>
      </p:sp>
      <p:sp>
        <p:nvSpPr>
          <p:cNvPr id="16" name="AutoShape 16"/>
          <p:cNvSpPr/>
          <p:nvPr/>
        </p:nvSpPr>
        <p:spPr>
          <a:xfrm>
            <a:off x="6604000" y="2159000"/>
            <a:ext cx="2095500" cy="762000"/>
          </a:xfrm>
          <a:prstGeom prst="roundRect">
            <a:avLst>
              <a:gd name="adj" fmla="val 8333"/>
            </a:avLst>
          </a:prstGeom>
          <a:solidFill>
            <a:srgbClr val="00A9E0">
              <a:alpha val="20000"/>
            </a:srgbClr>
          </a:solidFill>
          <a:ln w="12700" cap="flat" cmpd="sng">
            <a:solidFill>
              <a:srgbClr val="00A9E0">
                <a:alpha val="5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604000" y="2159000"/>
            <a:ext cx="20955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Poppins"/>
                <a:ea typeface="Poppins"/>
                <a:cs typeface="Poppins"/>
                <a:sym typeface="Poppins"/>
              </a:rPr>
              <a:t>True Positive (TP)</a:t>
            </a:r>
            <a:endParaRPr lang="en-US" sz="1100"/>
          </a:p>
          <a:p>
            <a:pPr indent="0" algn="ctr">
              <a:lnSpc>
                <a:spcPct val="125000"/>
              </a:lnSpc>
            </a:pPr>
            <a:r>
              <a:rPr lang="en-US" sz="1200" b="0" i="0" u="none" strike="noStrike">
                <a:solidFill>
                  <a:srgbClr val="C8C8C8"/>
                </a:solidFill>
                <a:latin typeface="Poppins"/>
                <a:ea typeface="Poppins"/>
                <a:cs typeface="Poppins"/>
                <a:sym typeface="Poppins"/>
              </a:rPr>
              <a:t>Correctly Predicted Churn</a:t>
            </a:r>
            <a:endParaRPr lang="en-US" sz="1200" b="0" i="0" u="none" strike="noStrike">
              <a:solidFill>
                <a:srgbClr val="C8C8C8"/>
              </a:solidFill>
              <a:latin typeface="Poppins"/>
              <a:ea typeface="Poppins"/>
              <a:cs typeface="Poppins"/>
              <a:sym typeface="Poppins"/>
            </a:endParaRPr>
          </a:p>
        </p:txBody>
      </p:sp>
      <p:sp>
        <p:nvSpPr>
          <p:cNvPr id="18" name="AutoShape 18"/>
          <p:cNvSpPr/>
          <p:nvPr/>
        </p:nvSpPr>
        <p:spPr>
          <a:xfrm>
            <a:off x="8953500" y="2159000"/>
            <a:ext cx="2095500" cy="762000"/>
          </a:xfrm>
          <a:prstGeom prst="roundRect">
            <a:avLst>
              <a:gd name="adj" fmla="val 8333"/>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953500" y="2159000"/>
            <a:ext cx="20955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Poppins"/>
                <a:ea typeface="Poppins"/>
                <a:cs typeface="Poppins"/>
                <a:sym typeface="Poppins"/>
              </a:rPr>
              <a:t>False Positive (FP)</a:t>
            </a:r>
            <a:endParaRPr lang="en-US" sz="1100"/>
          </a:p>
          <a:p>
            <a:pPr indent="0" algn="ctr">
              <a:lnSpc>
                <a:spcPct val="125000"/>
              </a:lnSpc>
            </a:pPr>
            <a:r>
              <a:rPr lang="en-US" sz="1200" b="0" i="0" u="none" strike="noStrike">
                <a:solidFill>
                  <a:srgbClr val="C8C8C8"/>
                </a:solidFill>
                <a:latin typeface="Poppins"/>
                <a:ea typeface="Poppins"/>
                <a:cs typeface="Poppins"/>
                <a:sym typeface="Poppins"/>
              </a:rPr>
              <a:t>Incorrectly Predicted Churn</a:t>
            </a:r>
            <a:endParaRPr lang="en-US" sz="1200" b="0" i="0" u="none" strike="noStrike">
              <a:solidFill>
                <a:srgbClr val="C8C8C8"/>
              </a:solidFill>
              <a:latin typeface="Poppins"/>
              <a:ea typeface="Poppins"/>
              <a:cs typeface="Poppins"/>
              <a:sym typeface="Poppins"/>
            </a:endParaRPr>
          </a:p>
        </p:txBody>
      </p:sp>
      <p:sp>
        <p:nvSpPr>
          <p:cNvPr id="20" name="AutoShape 20"/>
          <p:cNvSpPr/>
          <p:nvPr/>
        </p:nvSpPr>
        <p:spPr>
          <a:xfrm>
            <a:off x="6604000" y="3048000"/>
            <a:ext cx="2095500" cy="762000"/>
          </a:xfrm>
          <a:prstGeom prst="roundRect">
            <a:avLst>
              <a:gd name="adj" fmla="val 8333"/>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3048000"/>
            <a:ext cx="20955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Poppins"/>
                <a:ea typeface="Poppins"/>
                <a:cs typeface="Poppins"/>
                <a:sym typeface="Poppins"/>
              </a:rPr>
              <a:t>False Negative (FN)</a:t>
            </a:r>
            <a:endParaRPr lang="en-US" sz="1100"/>
          </a:p>
          <a:p>
            <a:pPr indent="0" algn="ctr">
              <a:lnSpc>
                <a:spcPct val="125000"/>
              </a:lnSpc>
            </a:pPr>
            <a:r>
              <a:rPr lang="en-US" sz="1200" b="0" i="0" u="none" strike="noStrike">
                <a:solidFill>
                  <a:srgbClr val="C8C8C8"/>
                </a:solidFill>
                <a:latin typeface="Poppins"/>
                <a:ea typeface="Poppins"/>
                <a:cs typeface="Poppins"/>
                <a:sym typeface="Poppins"/>
              </a:rPr>
              <a:t>Missed Churn Signals</a:t>
            </a:r>
            <a:endParaRPr lang="en-US" sz="1200" b="0" i="0" u="none" strike="noStrike">
              <a:solidFill>
                <a:srgbClr val="C8C8C8"/>
              </a:solidFill>
              <a:latin typeface="Poppins"/>
              <a:ea typeface="Poppins"/>
              <a:cs typeface="Poppins"/>
              <a:sym typeface="Poppins"/>
            </a:endParaRPr>
          </a:p>
        </p:txBody>
      </p:sp>
      <p:sp>
        <p:nvSpPr>
          <p:cNvPr id="22" name="AutoShape 22"/>
          <p:cNvSpPr/>
          <p:nvPr/>
        </p:nvSpPr>
        <p:spPr>
          <a:xfrm>
            <a:off x="8953500" y="3048000"/>
            <a:ext cx="2095500" cy="762000"/>
          </a:xfrm>
          <a:prstGeom prst="roundRect">
            <a:avLst>
              <a:gd name="adj" fmla="val 8333"/>
            </a:avLst>
          </a:prstGeom>
          <a:solidFill>
            <a:srgbClr val="10B981">
              <a:alpha val="20000"/>
            </a:srgbClr>
          </a:solidFill>
          <a:ln w="12700" cap="flat" cmpd="sng">
            <a:solidFill>
              <a:srgbClr val="10B981">
                <a:alpha val="5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8953500" y="3048000"/>
            <a:ext cx="20955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Poppins"/>
                <a:ea typeface="Poppins"/>
                <a:cs typeface="Poppins"/>
                <a:sym typeface="Poppins"/>
              </a:rPr>
              <a:t>True Negative (TN)</a:t>
            </a:r>
            <a:endParaRPr lang="en-US" sz="1100"/>
          </a:p>
          <a:p>
            <a:pPr indent="0" algn="ctr">
              <a:lnSpc>
                <a:spcPct val="125000"/>
              </a:lnSpc>
            </a:pPr>
            <a:r>
              <a:rPr lang="en-US" sz="1200" b="0" i="0" u="none" strike="noStrike">
                <a:solidFill>
                  <a:srgbClr val="C8C8C8"/>
                </a:solidFill>
                <a:latin typeface="Poppins"/>
                <a:ea typeface="Poppins"/>
                <a:cs typeface="Poppins"/>
                <a:sym typeface="Poppins"/>
              </a:rPr>
              <a:t>Correctly Predicted Non-Churn</a:t>
            </a:r>
            <a:endParaRPr lang="en-US" sz="1200" b="0" i="0" u="none" strike="noStrike">
              <a:solidFill>
                <a:srgbClr val="C8C8C8"/>
              </a:solidFill>
              <a:latin typeface="Poppins"/>
              <a:ea typeface="Poppins"/>
              <a:cs typeface="Poppins"/>
              <a:sym typeface="Poppins"/>
            </a:endParaRPr>
          </a:p>
        </p:txBody>
      </p:sp>
      <p:sp>
        <p:nvSpPr>
          <p:cNvPr id="24" name="AutoShape 24"/>
          <p:cNvSpPr/>
          <p:nvPr/>
        </p:nvSpPr>
        <p:spPr>
          <a:xfrm>
            <a:off x="6604000" y="4000500"/>
            <a:ext cx="4572000" cy="5080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1200" b="0" i="0" u="none" strike="noStrike">
                <a:solidFill>
                  <a:srgbClr val="B4BEC8"/>
                </a:solidFill>
                <a:latin typeface="Poppins"/>
                <a:ea typeface="Poppins"/>
                <a:cs typeface="Poppins"/>
                <a:sym typeface="Poppins"/>
              </a:rPr>
              <a:t>The matrix reveals the distribution of correct and incorrect predictions, highlighting the model's ability to minimize costly false negatives.</a:t>
            </a:r>
            <a:endParaRPr lang="en-US" sz="1100"/>
          </a:p>
        </p:txBody>
      </p:sp>
      <p:sp>
        <p:nvSpPr>
          <p:cNvPr id="25" name="AutoShape 25"/>
          <p:cNvSpPr/>
          <p:nvPr/>
        </p:nvSpPr>
        <p:spPr>
          <a:xfrm>
            <a:off x="762000" y="5334000"/>
            <a:ext cx="10668000" cy="762000"/>
          </a:xfrm>
          <a:prstGeom prst="roundRect">
            <a:avLst>
              <a:gd name="adj" fmla="val 16666"/>
            </a:avLst>
          </a:prstGeom>
          <a:gradFill rotWithShape="1">
            <a:gsLst>
              <a:gs pos="0">
                <a:srgbClr val="00A9E0">
                  <a:alpha val="20000"/>
                </a:srgbClr>
              </a:gs>
              <a:gs pos="100000">
                <a:srgbClr val="00A9E0">
                  <a:alpha val="5000"/>
                </a:srgbClr>
              </a:gs>
            </a:gsLst>
            <a:lin ang="0"/>
          </a:gradFill>
          <a:ln w="12700" cap="flat" cmpd="sng">
            <a:solidFill>
              <a:srgbClr val="00A9E0">
                <a:alpha val="4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562600"/>
            <a:ext cx="304800" cy="304800"/>
          </a:xfrm>
          <a:prstGeom prst="rect">
            <a:avLst/>
          </a:prstGeom>
        </p:spPr>
      </p:pic>
      <p:sp>
        <p:nvSpPr>
          <p:cNvPr id="27" name="AutoShape 27"/>
          <p:cNvSpPr/>
          <p:nvPr/>
        </p:nvSpPr>
        <p:spPr>
          <a:xfrm>
            <a:off x="1460500" y="5461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Poppins"/>
                <a:ea typeface="Poppins"/>
                <a:cs typeface="Poppins"/>
                <a:sym typeface="Poppins"/>
              </a:rPr>
              <a:t>Outcome:</a:t>
            </a:r>
            <a:r>
              <a:rPr lang="en-US" sz="1600" b="0" i="0" u="none" strike="noStrike">
                <a:solidFill>
                  <a:srgbClr val="F0F2F5"/>
                </a:solidFill>
                <a:latin typeface="Poppins"/>
                <a:ea typeface="Poppins"/>
                <a:cs typeface="Poppins"/>
                <a:sym typeface="Poppins"/>
              </a:rPr>
              <a:t>The Random Forest model is production-ready and will be integrated into the CRM system for real-time risk scoring.</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Feature Importance Analysis</a:t>
            </a:r>
            <a:endParaRPr lang="en-US" sz="1100"/>
          </a:p>
        </p:txBody>
      </p:sp>
      <p:sp>
        <p:nvSpPr>
          <p:cNvPr id="5" name="AutoShape 5"/>
          <p:cNvSpPr/>
          <p:nvPr/>
        </p:nvSpPr>
        <p:spPr>
          <a:xfrm>
            <a:off x="762000" y="1524000"/>
            <a:ext cx="5080000" cy="1778000"/>
          </a:xfrm>
          <a:prstGeom prst="roundRect">
            <a:avLst>
              <a:gd name="adj" fmla="val 7142"/>
            </a:avLst>
          </a:prstGeom>
          <a:solidFill>
            <a:srgbClr val="FFFFFF">
              <a:alpha val="10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14500"/>
            <a:ext cx="406400" cy="406400"/>
          </a:xfrm>
          <a:prstGeom prst="rect">
            <a:avLst/>
          </a:prstGeom>
        </p:spPr>
      </p:pic>
      <p:sp>
        <p:nvSpPr>
          <p:cNvPr id="7" name="AutoShape 7"/>
          <p:cNvSpPr/>
          <p:nvPr/>
        </p:nvSpPr>
        <p:spPr>
          <a:xfrm>
            <a:off x="1524000" y="1676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Visualization</a:t>
            </a:r>
            <a:endParaRPr lang="en-US" sz="1100"/>
          </a:p>
        </p:txBody>
      </p:sp>
      <p:sp>
        <p:nvSpPr>
          <p:cNvPr id="8" name="AutoShape 8"/>
          <p:cNvSpPr/>
          <p:nvPr/>
        </p:nvSpPr>
        <p:spPr>
          <a:xfrm>
            <a:off x="1016000" y="2159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A bar chart ranking the top features by their importance in predicting churn. Recency (how long since the last purchase) is typically the most critical factor.</a:t>
            </a:r>
            <a:endParaRPr lang="en-US" sz="1100"/>
          </a:p>
        </p:txBody>
      </p:sp>
      <p:sp>
        <p:nvSpPr>
          <p:cNvPr id="9" name="AutoShape 9"/>
          <p:cNvSpPr/>
          <p:nvPr/>
        </p:nvSpPr>
        <p:spPr>
          <a:xfrm>
            <a:off x="762000" y="3556000"/>
            <a:ext cx="5080000" cy="1778000"/>
          </a:xfrm>
          <a:prstGeom prst="roundRect">
            <a:avLst>
              <a:gd name="adj" fmla="val 7142"/>
            </a:avLst>
          </a:prstGeom>
          <a:solidFill>
            <a:srgbClr val="FFFFFF">
              <a:alpha val="10000"/>
            </a:srgbClr>
          </a:solidFill>
          <a:ln w="12700" cap="flat" cmpd="sng">
            <a:solidFill>
              <a:srgbClr val="00A9E0">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746500"/>
            <a:ext cx="406400" cy="406400"/>
          </a:xfrm>
          <a:prstGeom prst="rect">
            <a:avLst/>
          </a:prstGeom>
        </p:spPr>
      </p:pic>
      <p:sp>
        <p:nvSpPr>
          <p:cNvPr id="11" name="AutoShape 11"/>
          <p:cNvSpPr/>
          <p:nvPr/>
        </p:nvSpPr>
        <p:spPr>
          <a:xfrm>
            <a:off x="1524000" y="3708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Insight</a:t>
            </a:r>
            <a:endParaRPr lang="en-US" sz="1100"/>
          </a:p>
        </p:txBody>
      </p:sp>
      <p:sp>
        <p:nvSpPr>
          <p:cNvPr id="12" name="AutoShape 12"/>
          <p:cNvSpPr/>
          <p:nvPr/>
        </p:nvSpPr>
        <p:spPr>
          <a:xfrm>
            <a:off x="1016000" y="4191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Understanding factors like long periods of inactivity provides actionable insights for developing targeted retention strategies and prioritizing interventions.</a:t>
            </a:r>
            <a:endParaRPr lang="en-US" sz="1100"/>
          </a:p>
        </p:txBody>
      </p:sp>
      <p:sp>
        <p:nvSpPr>
          <p:cNvPr id="13" name="AutoShape 13"/>
          <p:cNvSpPr/>
          <p:nvPr/>
        </p:nvSpPr>
        <p:spPr>
          <a:xfrm>
            <a:off x="6350000" y="1524000"/>
            <a:ext cx="5080000" cy="3302000"/>
          </a:xfrm>
          <a:prstGeom prst="roundRect">
            <a:avLst>
              <a:gd name="adj" fmla="val 3846"/>
            </a:avLst>
          </a:prstGeom>
          <a:solidFill>
            <a:srgbClr val="000000">
              <a:alpha val="30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stretch>
            <a:fillRect/>
          </a:stretch>
        </p:blipFill>
        <p:spPr>
          <a:xfrm>
            <a:off x="6477000" y="1651000"/>
            <a:ext cx="4826000" cy="3048000"/>
          </a:xfrm>
          <a:prstGeom prst="rect">
            <a:avLst/>
          </a:prstGeom>
          <a:ln w="12700">
            <a:noFill/>
            <a:prstDash val="solid"/>
          </a:ln>
        </p:spPr>
      </p:pic>
      <p:sp>
        <p:nvSpPr>
          <p:cNvPr id="15" name="AutoShape 15"/>
          <p:cNvSpPr/>
          <p:nvPr/>
        </p:nvSpPr>
        <p:spPr>
          <a:xfrm>
            <a:off x="762000" y="5842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70196"/>
                  </a:srgbClr>
                </a:solidFill>
                <a:latin typeface="Poppins"/>
                <a:ea typeface="Poppins"/>
                <a:cs typeface="Poppins"/>
                <a:sym typeface="Poppins"/>
              </a:rPr>
              <a:t>Data Source: Random Forest Model Output | Focus: Customer Churn Prediction</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Strategic Recommendations &amp; Action Plan</a:t>
            </a:r>
            <a:endParaRPr lang="en-US" sz="1100"/>
          </a:p>
        </p:txBody>
      </p:sp>
      <p:sp>
        <p:nvSpPr>
          <p:cNvPr id="5" name="AutoShape 5"/>
          <p:cNvSpPr/>
          <p:nvPr/>
        </p:nvSpPr>
        <p:spPr>
          <a:xfrm>
            <a:off x="762000" y="1524000"/>
            <a:ext cx="5143500" cy="2159000"/>
          </a:xfrm>
          <a:prstGeom prst="roundRect">
            <a:avLst>
              <a:gd name="adj" fmla="val 5882"/>
            </a:avLst>
          </a:prstGeom>
          <a:solidFill>
            <a:srgbClr val="FFFFFF">
              <a:alpha val="96000"/>
            </a:srgbClr>
          </a:solidFill>
          <a:ln w="25400" cap="flat" cmpd="sng">
            <a:no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14500"/>
            <a:ext cx="406400" cy="406400"/>
          </a:xfrm>
          <a:prstGeom prst="rect">
            <a:avLst/>
          </a:prstGeom>
        </p:spPr>
      </p:pic>
      <p:sp>
        <p:nvSpPr>
          <p:cNvPr id="7" name="AutoShape 7"/>
          <p:cNvSpPr/>
          <p:nvPr/>
        </p:nvSpPr>
        <p:spPr>
          <a:xfrm>
            <a:off x="1524000" y="1676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For Loyal Customers</a:t>
            </a:r>
            <a:endParaRPr lang="en-US" sz="1100"/>
          </a:p>
        </p:txBody>
      </p:sp>
      <p:sp>
        <p:nvSpPr>
          <p:cNvPr id="8" name="AutoShape 8"/>
          <p:cNvSpPr/>
          <p:nvPr/>
        </p:nvSpPr>
        <p:spPr>
          <a:xfrm>
            <a:off x="1016000" y="21590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334155"/>
                </a:solidFill>
                <a:latin typeface="Poppins"/>
                <a:ea typeface="Poppins"/>
                <a:cs typeface="Poppins"/>
                <a:sym typeface="Poppins"/>
              </a:rPr>
              <a:t>Implement a loyalty program with tiered rewards, offer exclusive previews of new products, and provide dedicated VIP customer service.</a:t>
            </a:r>
            <a:endParaRPr lang="en-US" sz="1100"/>
          </a:p>
        </p:txBody>
      </p:sp>
      <p:sp>
        <p:nvSpPr>
          <p:cNvPr id="9" name="AutoShape 9"/>
          <p:cNvSpPr/>
          <p:nvPr/>
        </p:nvSpPr>
        <p:spPr>
          <a:xfrm>
            <a:off x="6286500" y="1524000"/>
            <a:ext cx="5143500" cy="2159000"/>
          </a:xfrm>
          <a:prstGeom prst="roundRect">
            <a:avLst>
              <a:gd name="adj" fmla="val 5882"/>
            </a:avLst>
          </a:prstGeom>
          <a:solidFill>
            <a:srgbClr val="FFFFFF">
              <a:alpha val="96000"/>
            </a:srgbClr>
          </a:solidFill>
          <a:ln w="25400" cap="flat" cmpd="sng">
            <a:no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714500"/>
            <a:ext cx="406400" cy="406400"/>
          </a:xfrm>
          <a:prstGeom prst="rect">
            <a:avLst/>
          </a:prstGeom>
        </p:spPr>
      </p:pic>
      <p:sp>
        <p:nvSpPr>
          <p:cNvPr id="11" name="AutoShape 11"/>
          <p:cNvSpPr/>
          <p:nvPr/>
        </p:nvSpPr>
        <p:spPr>
          <a:xfrm>
            <a:off x="7048500" y="1676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For Active Customers</a:t>
            </a:r>
            <a:endParaRPr lang="en-US" sz="1100"/>
          </a:p>
        </p:txBody>
      </p:sp>
      <p:sp>
        <p:nvSpPr>
          <p:cNvPr id="12" name="AutoShape 12"/>
          <p:cNvSpPr/>
          <p:nvPr/>
        </p:nvSpPr>
        <p:spPr>
          <a:xfrm>
            <a:off x="6540500" y="21590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334155"/>
                </a:solidFill>
                <a:latin typeface="Poppins"/>
                <a:ea typeface="Poppins"/>
                <a:cs typeface="Poppins"/>
                <a:sym typeface="Poppins"/>
              </a:rPr>
              <a:t>Use personalized product recommendations for cross-selling, and create limited-time offers to encourage upselling and increase AOV.</a:t>
            </a:r>
            <a:endParaRPr lang="en-US" sz="1100"/>
          </a:p>
        </p:txBody>
      </p:sp>
      <p:sp>
        <p:nvSpPr>
          <p:cNvPr id="13" name="AutoShape 13"/>
          <p:cNvSpPr/>
          <p:nvPr/>
        </p:nvSpPr>
        <p:spPr>
          <a:xfrm>
            <a:off x="762000" y="3937000"/>
            <a:ext cx="5143500" cy="2159000"/>
          </a:xfrm>
          <a:prstGeom prst="roundRect">
            <a:avLst>
              <a:gd name="adj" fmla="val 5882"/>
            </a:avLst>
          </a:prstGeom>
          <a:solidFill>
            <a:srgbClr val="FFFFFF">
              <a:alpha val="96000"/>
            </a:srgbClr>
          </a:solidFill>
          <a:ln w="25400" cap="flat" cmpd="sng">
            <a:no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127500"/>
            <a:ext cx="406400" cy="406400"/>
          </a:xfrm>
          <a:prstGeom prst="rect">
            <a:avLst/>
          </a:prstGeom>
        </p:spPr>
      </p:pic>
      <p:sp>
        <p:nvSpPr>
          <p:cNvPr id="15" name="AutoShape 15"/>
          <p:cNvSpPr/>
          <p:nvPr/>
        </p:nvSpPr>
        <p:spPr>
          <a:xfrm>
            <a:off x="1524000" y="408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For Inactive Customers</a:t>
            </a:r>
            <a:endParaRPr lang="en-US" sz="1100"/>
          </a:p>
        </p:txBody>
      </p:sp>
      <p:sp>
        <p:nvSpPr>
          <p:cNvPr id="16" name="AutoShape 16"/>
          <p:cNvSpPr/>
          <p:nvPr/>
        </p:nvSpPr>
        <p:spPr>
          <a:xfrm>
            <a:off x="1016000" y="45720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334155"/>
                </a:solidFill>
                <a:latin typeface="Poppins"/>
                <a:ea typeface="Poppins"/>
                <a:cs typeface="Poppins"/>
                <a:sym typeface="Poppins"/>
              </a:rPr>
              <a:t>Launch win-back email campaigns with targeted discounts, and re-engage with personalized content based on past purchases.</a:t>
            </a:r>
            <a:endParaRPr lang="en-US" sz="1100"/>
          </a:p>
        </p:txBody>
      </p:sp>
      <p:sp>
        <p:nvSpPr>
          <p:cNvPr id="17" name="AutoShape 17"/>
          <p:cNvSpPr/>
          <p:nvPr/>
        </p:nvSpPr>
        <p:spPr>
          <a:xfrm>
            <a:off x="6286500" y="3937000"/>
            <a:ext cx="5143500" cy="2159000"/>
          </a:xfrm>
          <a:prstGeom prst="roundRect">
            <a:avLst>
              <a:gd name="adj" fmla="val 5882"/>
            </a:avLst>
          </a:prstGeom>
          <a:solidFill>
            <a:srgbClr val="FFFFFF">
              <a:alpha val="96000"/>
            </a:srgbClr>
          </a:solidFill>
          <a:ln w="25400" cap="flat" cmpd="sng">
            <a:noFill/>
            <a:prstDash val="solid"/>
            <a:round/>
          </a:ln>
          <a:effectLst>
            <a:outerShdw blurRad="127000" dist="50800" dir="5400000" algn="tl" rotWithShape="0">
              <a:srgbClr val="000000">
                <a:alpha val="20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4127500"/>
            <a:ext cx="406400" cy="406400"/>
          </a:xfrm>
          <a:prstGeom prst="rect">
            <a:avLst/>
          </a:prstGeom>
        </p:spPr>
      </p:pic>
      <p:sp>
        <p:nvSpPr>
          <p:cNvPr id="19" name="AutoShape 19"/>
          <p:cNvSpPr/>
          <p:nvPr/>
        </p:nvSpPr>
        <p:spPr>
          <a:xfrm>
            <a:off x="7048500" y="408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9E0"/>
                </a:solidFill>
                <a:latin typeface="Poppins"/>
                <a:ea typeface="Poppins"/>
                <a:cs typeface="Poppins"/>
                <a:sym typeface="Poppins"/>
              </a:rPr>
              <a:t>For High-Risk Customers</a:t>
            </a:r>
            <a:endParaRPr lang="en-US" sz="1100"/>
          </a:p>
        </p:txBody>
      </p:sp>
      <p:sp>
        <p:nvSpPr>
          <p:cNvPr id="20" name="AutoShape 20"/>
          <p:cNvSpPr/>
          <p:nvPr/>
        </p:nvSpPr>
        <p:spPr>
          <a:xfrm>
            <a:off x="6540500" y="4572000"/>
            <a:ext cx="46355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334155"/>
                </a:solidFill>
                <a:latin typeface="Poppins"/>
                <a:ea typeface="Poppins"/>
                <a:cs typeface="Poppins"/>
                <a:sym typeface="Poppins"/>
              </a:rPr>
              <a:t>Conduct proactive outreach with special retention offers, initiate feedback surveys to identify pain points, and resolve issues promptly.</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5029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Poppins"/>
                <a:ea typeface="Poppins"/>
                <a:cs typeface="Poppins"/>
                <a:sym typeface="Poppins"/>
              </a:rPr>
              <a:t>Conclusion</a:t>
            </a:r>
            <a:endParaRPr lang="en-US" sz="1100"/>
          </a:p>
        </p:txBody>
      </p:sp>
      <p:sp>
        <p:nvSpPr>
          <p:cNvPr id="5" name="AutoShape 5"/>
          <p:cNvSpPr/>
          <p:nvPr/>
        </p:nvSpPr>
        <p:spPr>
          <a:xfrm>
            <a:off x="762000" y="1524000"/>
            <a:ext cx="3302000" cy="3302000"/>
          </a:xfrm>
          <a:prstGeom prst="roundRect">
            <a:avLst>
              <a:gd name="adj" fmla="val 3846"/>
            </a:avLst>
          </a:prstGeom>
          <a:solidFill>
            <a:srgbClr val="FFFFFF">
              <a:alpha val="8000"/>
            </a:srgbClr>
          </a:solidFill>
          <a:ln w="12700" cap="flat" cmpd="sng">
            <a:solidFill>
              <a:srgbClr val="00A9E0">
                <a:alpha val="4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78000"/>
            <a:ext cx="406400" cy="406400"/>
          </a:xfrm>
          <a:prstGeom prst="rect">
            <a:avLst/>
          </a:prstGeom>
        </p:spPr>
      </p:pic>
      <p:sp>
        <p:nvSpPr>
          <p:cNvPr id="7" name="AutoShape 7"/>
          <p:cNvSpPr/>
          <p:nvPr/>
        </p:nvSpPr>
        <p:spPr>
          <a:xfrm>
            <a:off x="1016000" y="2286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Achievements</a:t>
            </a:r>
            <a:endParaRPr lang="en-US" sz="1100"/>
          </a:p>
        </p:txBody>
      </p:sp>
      <p:sp>
        <p:nvSpPr>
          <p:cNvPr id="8" name="AutoShape 8"/>
          <p:cNvSpPr/>
          <p:nvPr/>
        </p:nvSpPr>
        <p:spPr>
          <a:xfrm>
            <a:off x="1016000" y="27305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Successfully segmented customers into four distinct groups using the RFM model and built an accurate Random Forest model to predict customer churn.</a:t>
            </a:r>
            <a:endParaRPr lang="en-US" sz="1100"/>
          </a:p>
        </p:txBody>
      </p:sp>
      <p:sp>
        <p:nvSpPr>
          <p:cNvPr id="9" name="AutoShape 9"/>
          <p:cNvSpPr/>
          <p:nvPr/>
        </p:nvSpPr>
        <p:spPr>
          <a:xfrm>
            <a:off x="4445000" y="1524000"/>
            <a:ext cx="3302000" cy="3302000"/>
          </a:xfrm>
          <a:prstGeom prst="roundRect">
            <a:avLst>
              <a:gd name="adj" fmla="val 3846"/>
            </a:avLst>
          </a:prstGeom>
          <a:solidFill>
            <a:srgbClr val="FFFFFF">
              <a:alpha val="8000"/>
            </a:srgbClr>
          </a:solidFill>
          <a:ln w="12700" cap="flat" cmpd="sng">
            <a:solidFill>
              <a:srgbClr val="00A9E0">
                <a:alpha val="4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778000"/>
            <a:ext cx="406400" cy="406400"/>
          </a:xfrm>
          <a:prstGeom prst="rect">
            <a:avLst/>
          </a:prstGeom>
        </p:spPr>
      </p:pic>
      <p:sp>
        <p:nvSpPr>
          <p:cNvPr id="11" name="AutoShape 11"/>
          <p:cNvSpPr/>
          <p:nvPr/>
        </p:nvSpPr>
        <p:spPr>
          <a:xfrm>
            <a:off x="4699000" y="2286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Business Value</a:t>
            </a:r>
            <a:endParaRPr lang="en-US" sz="1100"/>
          </a:p>
        </p:txBody>
      </p:sp>
      <p:sp>
        <p:nvSpPr>
          <p:cNvPr id="12" name="AutoShape 12"/>
          <p:cNvSpPr/>
          <p:nvPr/>
        </p:nvSpPr>
        <p:spPr>
          <a:xfrm>
            <a:off x="4699000" y="27305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Enables data-driven decision-making for targeted marketing and retention, significantly reducing churn rates and increasing revenue.</a:t>
            </a:r>
            <a:endParaRPr lang="en-US" sz="1100"/>
          </a:p>
        </p:txBody>
      </p:sp>
      <p:sp>
        <p:nvSpPr>
          <p:cNvPr id="13" name="AutoShape 13"/>
          <p:cNvSpPr/>
          <p:nvPr/>
        </p:nvSpPr>
        <p:spPr>
          <a:xfrm>
            <a:off x="8128000" y="1524000"/>
            <a:ext cx="3302000" cy="3302000"/>
          </a:xfrm>
          <a:prstGeom prst="roundRect">
            <a:avLst>
              <a:gd name="adj" fmla="val 3846"/>
            </a:avLst>
          </a:prstGeom>
          <a:solidFill>
            <a:srgbClr val="FFFFFF">
              <a:alpha val="8000"/>
            </a:srgbClr>
          </a:solidFill>
          <a:ln w="12700" cap="flat" cmpd="sng">
            <a:solidFill>
              <a:srgbClr val="00A9E0">
                <a:alpha val="4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778000"/>
            <a:ext cx="406400" cy="406400"/>
          </a:xfrm>
          <a:prstGeom prst="rect">
            <a:avLst/>
          </a:prstGeom>
        </p:spPr>
      </p:pic>
      <p:sp>
        <p:nvSpPr>
          <p:cNvPr id="15" name="AutoShape 15"/>
          <p:cNvSpPr/>
          <p:nvPr/>
        </p:nvSpPr>
        <p:spPr>
          <a:xfrm>
            <a:off x="8382000" y="22860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A9E0"/>
                </a:solidFill>
                <a:latin typeface="Poppins"/>
                <a:ea typeface="Poppins"/>
                <a:cs typeface="Poppins"/>
                <a:sym typeface="Poppins"/>
              </a:rPr>
              <a:t>Future Work</a:t>
            </a:r>
            <a:endParaRPr lang="en-US" sz="1100"/>
          </a:p>
        </p:txBody>
      </p:sp>
      <p:sp>
        <p:nvSpPr>
          <p:cNvPr id="16" name="AutoShape 16"/>
          <p:cNvSpPr/>
          <p:nvPr/>
        </p:nvSpPr>
        <p:spPr>
          <a:xfrm>
            <a:off x="8382000" y="27305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F0F2F5"/>
                </a:solidFill>
                <a:latin typeface="Poppins"/>
                <a:ea typeface="Poppins"/>
                <a:cs typeface="Poppins"/>
                <a:sym typeface="Poppins"/>
              </a:rPr>
              <a:t>Explore advanced models like XGBoost or neural networks, and incorporate external data (social media, demographics) for deeper insights.</a:t>
            </a:r>
            <a:endParaRPr lang="en-US" sz="1100"/>
          </a:p>
        </p:txBody>
      </p:sp>
      <p:sp>
        <p:nvSpPr>
          <p:cNvPr id="17" name="AutoShape 17"/>
          <p:cNvSpPr/>
          <p:nvPr/>
        </p:nvSpPr>
        <p:spPr>
          <a:xfrm>
            <a:off x="762000" y="5334000"/>
            <a:ext cx="10668000" cy="25400"/>
          </a:xfrm>
          <a:prstGeom prst="roundRect">
            <a:avLst>
              <a:gd name="adj" fmla="val 0"/>
            </a:avLst>
          </a:prstGeom>
          <a:gradFill rotWithShape="1">
            <a:gsLst>
              <a:gs pos="0">
                <a:srgbClr val="00A9E0">
                  <a:alpha val="0"/>
                </a:srgbClr>
              </a:gs>
              <a:gs pos="50000">
                <a:srgbClr val="00A9E0">
                  <a:alpha val="100000"/>
                </a:srgbClr>
              </a:gs>
              <a:gs pos="100000">
                <a:srgbClr val="00A9E0">
                  <a:alpha val="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3079750" y="2159000"/>
            <a:ext cx="60325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
        <p:nvSpPr>
          <p:cNvPr id="5" name="AutoShape 5"/>
          <p:cNvSpPr/>
          <p:nvPr/>
        </p:nvSpPr>
        <p:spPr>
          <a:xfrm>
            <a:off x="5715000" y="3048000"/>
            <a:ext cx="762000" cy="50800"/>
          </a:xfrm>
          <a:prstGeom prst="roundRect">
            <a:avLst>
              <a:gd name="adj" fmla="val 0"/>
            </a:avLst>
          </a:prstGeom>
          <a:solidFill>
            <a:srgbClr val="00A9E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302000"/>
            <a:ext cx="1219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1" i="0" u="none" strike="noStrike">
                <a:solidFill>
                  <a:srgbClr val="00A9E0"/>
                </a:solidFill>
                <a:latin typeface="Noto Sans SC" panose="020B0200000000000000" charset="-122"/>
                <a:ea typeface="Noto Sans SC" panose="020B0200000000000000" charset="-122"/>
                <a:cs typeface="Noto Sans SC" panose="020B0200000000000000" charset="-122"/>
                <a:sym typeface="Noto Sans SC" panose="020B0200000000000000" charset="-122"/>
              </a:rPr>
              <a:t>Q&amp;A</a:t>
            </a:r>
            <a:endParaRPr lang="en-US" sz="1100"/>
          </a:p>
        </p:txBody>
      </p:sp>
      <p:sp>
        <p:nvSpPr>
          <p:cNvPr id="7" name="AutoShape 7"/>
          <p:cNvSpPr/>
          <p:nvPr/>
        </p:nvSpPr>
        <p:spPr>
          <a:xfrm>
            <a:off x="0" y="3937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endParaRPr lang="en-US" sz="1100"/>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43600" y="4445000"/>
            <a:ext cx="304800" cy="304800"/>
          </a:xfrm>
          <a:prstGeom prst="rect">
            <a:avLst/>
          </a:prstGeom>
        </p:spPr>
      </p:pic>
      <p:pic>
        <p:nvPicPr>
          <p:cNvPr id="9" name="Picture 9"/>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9615</Words>
  <Application>WPS 演示</Application>
  <PresentationFormat/>
  <Paragraphs>307</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20</vt:i4>
      </vt:variant>
    </vt:vector>
  </HeadingPairs>
  <TitlesOfParts>
    <vt:vector size="33" baseType="lpstr">
      <vt:lpstr>Arial</vt:lpstr>
      <vt:lpstr>宋体</vt:lpstr>
      <vt:lpstr>Wingdings</vt:lpstr>
      <vt:lpstr>Arial</vt:lpstr>
      <vt:lpstr>Noto Sans SC</vt:lpstr>
      <vt:lpstr>Poppins</vt:lpstr>
      <vt:lpstr>Segoe Print</vt:lpstr>
      <vt:lpstr>微软雅黑</vt:lpstr>
      <vt:lpstr>Arial Unicode MS</vt:lpstr>
      <vt:lpstr>Poppins</vt:lpstr>
      <vt:lpstr>A new day begins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希望的影子</cp:lastModifiedBy>
  <cp:revision>2</cp:revision>
  <dcterms:created xsi:type="dcterms:W3CDTF">2026-03-30T11:53:00Z</dcterms:created>
  <dcterms:modified xsi:type="dcterms:W3CDTF">2026-03-30T11:54:52Z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B2EC3C926E604B0E92D80285CF3289C1_13</vt:lpwstr>
  </property>
  <property fmtid="{D5CDD505-2E9C-101B-9397-08002B2CF9AE}" pid="3" name="KSOProductBuildVer">
    <vt:lpwstr>2052-12.1.0.25225</vt:lpwstr>
  </property>
</Properties>
</file>